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Times New Roman MT Bold" charset="1" panose="02030802070405020303"/>
      <p:regular r:id="rId18"/>
    </p:embeddedFont>
    <p:embeddedFont>
      <p:font typeface="Times New Roman MT" charset="1" panose="020305020704050203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jpeg" Type="http://schemas.openxmlformats.org/officeDocument/2006/relationships/image"/><Relationship Id="rId5" Target="../media/image9.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jpeg" Type="http://schemas.openxmlformats.org/officeDocument/2006/relationships/image"/><Relationship Id="rId5" Target="../media/image1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jpeg" Type="http://schemas.openxmlformats.org/officeDocument/2006/relationships/image"/><Relationship Id="rId5" Target="../media/image1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6.jpeg" Type="http://schemas.openxmlformats.org/officeDocument/2006/relationships/image"/><Relationship Id="rId5" Target="../media/image1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9.jpeg" Type="http://schemas.openxmlformats.org/officeDocument/2006/relationships/image"/><Relationship Id="rId5" Target="../media/image20.jpeg" Type="http://schemas.openxmlformats.org/officeDocument/2006/relationships/image"/><Relationship Id="rId6" Target="../media/image2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427996" y="706485"/>
            <a:ext cx="6517904" cy="651790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4F4F4"/>
            </a:solidFill>
          </p:spPr>
        </p:sp>
        <p:sp>
          <p:nvSpPr>
            <p:cNvPr name="TextBox 4" id="4"/>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799134" y="9258300"/>
            <a:ext cx="13525335" cy="1325663"/>
            <a:chOff x="0" y="0"/>
            <a:chExt cx="3562228" cy="349146"/>
          </a:xfrm>
        </p:grpSpPr>
        <p:sp>
          <p:nvSpPr>
            <p:cNvPr name="Freeform 6" id="6"/>
            <p:cNvSpPr/>
            <p:nvPr/>
          </p:nvSpPr>
          <p:spPr>
            <a:xfrm flipH="false" flipV="false" rot="0">
              <a:off x="0" y="0"/>
              <a:ext cx="3562228" cy="349146"/>
            </a:xfrm>
            <a:custGeom>
              <a:avLst/>
              <a:gdLst/>
              <a:ahLst/>
              <a:cxnLst/>
              <a:rect r="r" b="b" t="t" l="l"/>
              <a:pathLst>
                <a:path h="349146" w="3562228">
                  <a:moveTo>
                    <a:pt x="0" y="0"/>
                  </a:moveTo>
                  <a:lnTo>
                    <a:pt x="3562228" y="0"/>
                  </a:lnTo>
                  <a:lnTo>
                    <a:pt x="3562228" y="349146"/>
                  </a:lnTo>
                  <a:lnTo>
                    <a:pt x="0" y="349146"/>
                  </a:lnTo>
                  <a:close/>
                </a:path>
              </a:pathLst>
            </a:custGeom>
            <a:solidFill>
              <a:srgbClr val="0C3470"/>
            </a:solidFill>
          </p:spPr>
        </p:sp>
        <p:sp>
          <p:nvSpPr>
            <p:cNvPr name="TextBox 7" id="7"/>
            <p:cNvSpPr txBox="true"/>
            <p:nvPr/>
          </p:nvSpPr>
          <p:spPr>
            <a:xfrm>
              <a:off x="0" y="-57150"/>
              <a:ext cx="3562228" cy="406296"/>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0227556" y="-4724288"/>
            <a:ext cx="8168759" cy="816875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4F4F4"/>
            </a:solidFill>
          </p:spPr>
        </p:sp>
        <p:sp>
          <p:nvSpPr>
            <p:cNvPr name="TextBox 10" id="10"/>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2931607" y="1387072"/>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2063318" y="2091017"/>
            <a:ext cx="9519169" cy="3844090"/>
          </a:xfrm>
          <a:prstGeom prst="rect">
            <a:avLst/>
          </a:prstGeom>
        </p:spPr>
        <p:txBody>
          <a:bodyPr anchor="t" rtlCol="false" tIns="0" lIns="0" bIns="0" rIns="0">
            <a:spAutoFit/>
          </a:bodyPr>
          <a:lstStyle/>
          <a:p>
            <a:pPr algn="l">
              <a:lnSpc>
                <a:spcPts val="9359"/>
              </a:lnSpc>
            </a:pPr>
            <a:r>
              <a:rPr lang="en-US" sz="10399" b="true">
                <a:solidFill>
                  <a:srgbClr val="0B2957"/>
                </a:solidFill>
                <a:latin typeface="Times New Roman MT Bold"/>
                <a:ea typeface="Times New Roman MT Bold"/>
                <a:cs typeface="Times New Roman MT Bold"/>
                <a:sym typeface="Times New Roman MT Bold"/>
              </a:rPr>
              <a:t>Memahami Gestur pada Aplikasi Androi</a:t>
            </a:r>
            <a:r>
              <a:rPr lang="en-US" sz="10399" b="true">
                <a:solidFill>
                  <a:srgbClr val="0B2957"/>
                </a:solidFill>
                <a:latin typeface="Times New Roman MT Bold"/>
                <a:ea typeface="Times New Roman MT Bold"/>
                <a:cs typeface="Times New Roman MT Bold"/>
                <a:sym typeface="Times New Roman MT Bold"/>
              </a:rPr>
              <a:t>d</a:t>
            </a:r>
          </a:p>
        </p:txBody>
      </p:sp>
      <p:grpSp>
        <p:nvGrpSpPr>
          <p:cNvPr name="Group 13" id="13"/>
          <p:cNvGrpSpPr/>
          <p:nvPr/>
        </p:nvGrpSpPr>
        <p:grpSpPr>
          <a:xfrm rot="0">
            <a:off x="8683985" y="-2058442"/>
            <a:ext cx="3087142" cy="308714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0C3470"/>
            </a:solidFill>
          </p:spPr>
        </p:sp>
        <p:sp>
          <p:nvSpPr>
            <p:cNvPr name="TextBox 15" id="15"/>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true" flipV="false" rot="0">
            <a:off x="10817026" y="3575994"/>
            <a:ext cx="8904973" cy="7577323"/>
          </a:xfrm>
          <a:custGeom>
            <a:avLst/>
            <a:gdLst/>
            <a:ahLst/>
            <a:cxnLst/>
            <a:rect r="r" b="b" t="t" l="l"/>
            <a:pathLst>
              <a:path h="7577323" w="8904973">
                <a:moveTo>
                  <a:pt x="8904973" y="0"/>
                </a:moveTo>
                <a:lnTo>
                  <a:pt x="0" y="0"/>
                </a:lnTo>
                <a:lnTo>
                  <a:pt x="0" y="7577322"/>
                </a:lnTo>
                <a:lnTo>
                  <a:pt x="8904973" y="7577322"/>
                </a:lnTo>
                <a:lnTo>
                  <a:pt x="8904973"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7" id="17"/>
          <p:cNvGrpSpPr/>
          <p:nvPr/>
        </p:nvGrpSpPr>
        <p:grpSpPr>
          <a:xfrm rot="0">
            <a:off x="2063318" y="6557045"/>
            <a:ext cx="5283902" cy="961258"/>
            <a:chOff x="0" y="0"/>
            <a:chExt cx="7045203" cy="1281677"/>
          </a:xfrm>
        </p:grpSpPr>
        <p:sp>
          <p:nvSpPr>
            <p:cNvPr name="TextBox 18" id="18"/>
            <p:cNvSpPr txBox="true"/>
            <p:nvPr/>
          </p:nvSpPr>
          <p:spPr>
            <a:xfrm rot="0">
              <a:off x="0" y="-123825"/>
              <a:ext cx="7045203" cy="764663"/>
            </a:xfrm>
            <a:prstGeom prst="rect">
              <a:avLst/>
            </a:prstGeom>
          </p:spPr>
          <p:txBody>
            <a:bodyPr anchor="t" rtlCol="false" tIns="0" lIns="0" bIns="0" rIns="0">
              <a:spAutoFit/>
            </a:bodyPr>
            <a:lstStyle/>
            <a:p>
              <a:pPr algn="l">
                <a:lnSpc>
                  <a:spcPts val="4480"/>
                </a:lnSpc>
              </a:pPr>
              <a:r>
                <a:rPr lang="en-US" sz="3200">
                  <a:solidFill>
                    <a:srgbClr val="000000"/>
                  </a:solidFill>
                  <a:latin typeface="Times New Roman MT"/>
                  <a:ea typeface="Times New Roman MT"/>
                  <a:cs typeface="Times New Roman MT"/>
                  <a:sym typeface="Times New Roman MT"/>
                </a:rPr>
                <a:t>Mohamad Bayu Kristanto</a:t>
              </a:r>
            </a:p>
          </p:txBody>
        </p:sp>
        <p:sp>
          <p:nvSpPr>
            <p:cNvPr name="TextBox 19" id="19"/>
            <p:cNvSpPr txBox="true"/>
            <p:nvPr/>
          </p:nvSpPr>
          <p:spPr>
            <a:xfrm rot="0">
              <a:off x="0" y="517013"/>
              <a:ext cx="7045203" cy="764663"/>
            </a:xfrm>
            <a:prstGeom prst="rect">
              <a:avLst/>
            </a:prstGeom>
          </p:spPr>
          <p:txBody>
            <a:bodyPr anchor="t" rtlCol="false" tIns="0" lIns="0" bIns="0" rIns="0">
              <a:spAutoFit/>
            </a:bodyPr>
            <a:lstStyle/>
            <a:p>
              <a:pPr algn="l">
                <a:lnSpc>
                  <a:spcPts val="4480"/>
                </a:lnSpc>
              </a:pPr>
              <a:r>
                <a:rPr lang="en-US" sz="3200">
                  <a:solidFill>
                    <a:srgbClr val="000000"/>
                  </a:solidFill>
                  <a:latin typeface="Times New Roman MT"/>
                  <a:ea typeface="Times New Roman MT"/>
                  <a:cs typeface="Times New Roman MT"/>
                  <a:sym typeface="Times New Roman MT"/>
                </a:rPr>
                <a:t>E41240067</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019896" y="-1735495"/>
            <a:ext cx="7687716" cy="6052329"/>
          </a:xfrm>
          <a:custGeom>
            <a:avLst/>
            <a:gdLst/>
            <a:ahLst/>
            <a:cxnLst/>
            <a:rect r="r" b="b" t="t" l="l"/>
            <a:pathLst>
              <a:path h="6052329" w="7687716">
                <a:moveTo>
                  <a:pt x="7687716" y="0"/>
                </a:moveTo>
                <a:lnTo>
                  <a:pt x="0" y="0"/>
                </a:lnTo>
                <a:lnTo>
                  <a:pt x="0" y="6052329"/>
                </a:lnTo>
                <a:lnTo>
                  <a:pt x="7687716" y="6052329"/>
                </a:lnTo>
                <a:lnTo>
                  <a:pt x="7687716"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140059" y="1028700"/>
            <a:ext cx="8168759" cy="816875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4F4F4"/>
            </a:solidFill>
          </p:spPr>
        </p:sp>
        <p:sp>
          <p:nvSpPr>
            <p:cNvPr name="TextBox 5" id="5"/>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8458554" y="8743429"/>
            <a:ext cx="3087142" cy="308714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1C54A9"/>
            </a:solidFill>
          </p:spPr>
        </p:sp>
        <p:sp>
          <p:nvSpPr>
            <p:cNvPr name="TextBox 8" id="8"/>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0258588" y="1634455"/>
            <a:ext cx="7379959" cy="8124841"/>
            <a:chOff x="0" y="0"/>
            <a:chExt cx="9839945" cy="10833121"/>
          </a:xfrm>
        </p:grpSpPr>
        <p:pic>
          <p:nvPicPr>
            <p:cNvPr name="Picture 10" id="10"/>
            <p:cNvPicPr>
              <a:picLocks noChangeAspect="true"/>
            </p:cNvPicPr>
            <p:nvPr/>
          </p:nvPicPr>
          <p:blipFill>
            <a:blip r:embed="rId4"/>
            <a:srcRect l="8719" t="4144" r="5966" b="4278"/>
            <a:stretch>
              <a:fillRect/>
            </a:stretch>
          </p:blipFill>
          <p:spPr>
            <a:xfrm flipH="false" flipV="false">
              <a:off x="0" y="0"/>
              <a:ext cx="9839945" cy="10833121"/>
            </a:xfrm>
            <a:prstGeom prst="rect">
              <a:avLst/>
            </a:prstGeom>
          </p:spPr>
        </p:pic>
      </p:grpSp>
      <p:sp>
        <p:nvSpPr>
          <p:cNvPr name="TextBox 11" id="11"/>
          <p:cNvSpPr txBox="true"/>
          <p:nvPr/>
        </p:nvSpPr>
        <p:spPr>
          <a:xfrm rot="0">
            <a:off x="1311665" y="998258"/>
            <a:ext cx="9425266" cy="1511366"/>
          </a:xfrm>
          <a:prstGeom prst="rect">
            <a:avLst/>
          </a:prstGeom>
        </p:spPr>
        <p:txBody>
          <a:bodyPr anchor="t" rtlCol="false" tIns="0" lIns="0" bIns="0" rIns="0">
            <a:spAutoFit/>
          </a:bodyPr>
          <a:lstStyle/>
          <a:p>
            <a:pPr algn="l">
              <a:lnSpc>
                <a:spcPts val="5500"/>
              </a:lnSpc>
            </a:pPr>
            <a:r>
              <a:rPr lang="en-US" sz="5000" b="true">
                <a:solidFill>
                  <a:srgbClr val="0B2957"/>
                </a:solidFill>
                <a:latin typeface="Times New Roman MT Bold"/>
                <a:ea typeface="Times New Roman MT Bold"/>
                <a:cs typeface="Times New Roman MT Bold"/>
                <a:sym typeface="Times New Roman MT Bold"/>
              </a:rPr>
              <a:t>Program Implementasi OnTap, OnDoubleTap, OnLongPress</a:t>
            </a:r>
          </a:p>
        </p:txBody>
      </p:sp>
      <p:sp>
        <p:nvSpPr>
          <p:cNvPr name="TextBox 12" id="12"/>
          <p:cNvSpPr txBox="true"/>
          <p:nvPr/>
        </p:nvSpPr>
        <p:spPr>
          <a:xfrm rot="0">
            <a:off x="1311665" y="2706562"/>
            <a:ext cx="8514521" cy="6439518"/>
          </a:xfrm>
          <a:prstGeom prst="rect">
            <a:avLst/>
          </a:prstGeom>
        </p:spPr>
        <p:txBody>
          <a:bodyPr anchor="t" rtlCol="false" tIns="0" lIns="0" bIns="0" rIns="0">
            <a:spAutoFit/>
          </a:bodyPr>
          <a:lstStyle/>
          <a:p>
            <a:pPr algn="l">
              <a:lnSpc>
                <a:spcPts val="3666"/>
              </a:lnSpc>
            </a:pPr>
            <a:r>
              <a:rPr lang="en-US" sz="2618">
                <a:solidFill>
                  <a:srgbClr val="000000"/>
                </a:solidFill>
                <a:latin typeface="Times New Roman MT"/>
                <a:ea typeface="Times New Roman MT"/>
                <a:cs typeface="Times New Roman MT"/>
                <a:sym typeface="Times New Roman MT"/>
              </a:rPr>
              <a:t>T</a:t>
            </a:r>
            <a:r>
              <a:rPr lang="en-US" sz="2618">
                <a:solidFill>
                  <a:srgbClr val="000000"/>
                </a:solidFill>
                <a:latin typeface="Times New Roman MT"/>
                <a:ea typeface="Times New Roman MT"/>
                <a:cs typeface="Times New Roman MT"/>
                <a:sym typeface="Times New Roman MT"/>
              </a:rPr>
              <a:t>ap Page – Interaksi Gesture pada Flutter</a:t>
            </a:r>
          </a:p>
          <a:p>
            <a:pPr algn="l" marL="565423" indent="-282711" lvl="1">
              <a:lnSpc>
                <a:spcPts val="3666"/>
              </a:lnSpc>
              <a:buFont typeface="Arial"/>
              <a:buChar char="•"/>
            </a:pPr>
            <a:r>
              <a:rPr lang="en-US" b="true" sz="2618">
                <a:solidFill>
                  <a:srgbClr val="000000"/>
                </a:solidFill>
                <a:latin typeface="Times New Roman MT Bold"/>
                <a:ea typeface="Times New Roman MT Bold"/>
                <a:cs typeface="Times New Roman MT Bold"/>
                <a:sym typeface="Times New Roman MT Bold"/>
              </a:rPr>
              <a:t>Fungsi</a:t>
            </a:r>
            <a:r>
              <a:rPr lang="en-US" sz="2618">
                <a:solidFill>
                  <a:srgbClr val="000000"/>
                </a:solidFill>
                <a:latin typeface="Times New Roman MT"/>
                <a:ea typeface="Times New Roman MT"/>
                <a:cs typeface="Times New Roman MT"/>
                <a:sym typeface="Times New Roman MT"/>
              </a:rPr>
              <a:t>: Menampilkan animasi kotak yang merespons berbagai gesture sentuhan.</a:t>
            </a:r>
          </a:p>
          <a:p>
            <a:pPr algn="l" marL="565423" indent="-282711" lvl="1">
              <a:lnSpc>
                <a:spcPts val="3666"/>
              </a:lnSpc>
              <a:buFont typeface="Arial"/>
              <a:buChar char="•"/>
            </a:pPr>
            <a:r>
              <a:rPr lang="en-US" b="true" sz="2618">
                <a:solidFill>
                  <a:srgbClr val="000000"/>
                </a:solidFill>
                <a:latin typeface="Times New Roman MT Bold"/>
                <a:ea typeface="Times New Roman MT Bold"/>
                <a:cs typeface="Times New Roman MT Bold"/>
                <a:sym typeface="Times New Roman MT Bold"/>
              </a:rPr>
              <a:t>Gestures</a:t>
            </a:r>
            <a:r>
              <a:rPr lang="en-US" sz="2618">
                <a:solidFill>
                  <a:srgbClr val="000000"/>
                </a:solidFill>
                <a:latin typeface="Times New Roman MT"/>
                <a:ea typeface="Times New Roman MT"/>
                <a:cs typeface="Times New Roman MT"/>
                <a:sym typeface="Times New Roman MT"/>
              </a:rPr>
              <a:t>:</a:t>
            </a:r>
          </a:p>
          <a:p>
            <a:pPr algn="l" marL="1130845" indent="-376948" lvl="2">
              <a:lnSpc>
                <a:spcPts val="3666"/>
              </a:lnSpc>
              <a:buFont typeface="Arial"/>
              <a:buChar char="⚬"/>
            </a:pPr>
            <a:r>
              <a:rPr lang="en-US" sz="2618">
                <a:solidFill>
                  <a:srgbClr val="000000"/>
                </a:solidFill>
                <a:latin typeface="Times New Roman MT"/>
                <a:ea typeface="Times New Roman MT"/>
                <a:cs typeface="Times New Roman MT"/>
                <a:sym typeface="Times New Roman MT"/>
              </a:rPr>
              <a:t>Tap: Mengubah ukuran (150 ⇄ 220) dan warna (biru ⇄ merah).</a:t>
            </a:r>
          </a:p>
          <a:p>
            <a:pPr algn="l" marL="1130845" indent="-376948" lvl="2">
              <a:lnSpc>
                <a:spcPts val="3666"/>
              </a:lnSpc>
              <a:buFont typeface="Arial"/>
              <a:buChar char="⚬"/>
            </a:pPr>
            <a:r>
              <a:rPr lang="en-US" sz="2618">
                <a:solidFill>
                  <a:srgbClr val="000000"/>
                </a:solidFill>
                <a:latin typeface="Times New Roman MT"/>
                <a:ea typeface="Times New Roman MT"/>
                <a:cs typeface="Times New Roman MT"/>
                <a:sym typeface="Times New Roman MT"/>
              </a:rPr>
              <a:t>Double Tap: Mengubah warna menjadi hijau.</a:t>
            </a:r>
          </a:p>
          <a:p>
            <a:pPr algn="l" marL="1130845" indent="-376948" lvl="2">
              <a:lnSpc>
                <a:spcPts val="3666"/>
              </a:lnSpc>
              <a:buFont typeface="Arial"/>
              <a:buChar char="⚬"/>
            </a:pPr>
            <a:r>
              <a:rPr lang="en-US" sz="2618">
                <a:solidFill>
                  <a:srgbClr val="000000"/>
                </a:solidFill>
                <a:latin typeface="Times New Roman MT"/>
                <a:ea typeface="Times New Roman MT"/>
                <a:cs typeface="Times New Roman MT"/>
                <a:sym typeface="Times New Roman MT"/>
              </a:rPr>
              <a:t>Long Press: Memperbesar ukuran menjadi 250.</a:t>
            </a:r>
          </a:p>
          <a:p>
            <a:pPr algn="l" marL="565423" indent="-282711" lvl="1">
              <a:lnSpc>
                <a:spcPts val="3666"/>
              </a:lnSpc>
              <a:buFont typeface="Arial"/>
              <a:buChar char="•"/>
            </a:pPr>
            <a:r>
              <a:rPr lang="en-US" b="true" sz="2618">
                <a:solidFill>
                  <a:srgbClr val="000000"/>
                </a:solidFill>
                <a:latin typeface="Times New Roman MT Bold"/>
                <a:ea typeface="Times New Roman MT Bold"/>
                <a:cs typeface="Times New Roman MT Bold"/>
                <a:sym typeface="Times New Roman MT Bold"/>
              </a:rPr>
              <a:t>Animasi</a:t>
            </a:r>
            <a:r>
              <a:rPr lang="en-US" sz="2618">
                <a:solidFill>
                  <a:srgbClr val="000000"/>
                </a:solidFill>
                <a:latin typeface="Times New Roman MT"/>
                <a:ea typeface="Times New Roman MT"/>
                <a:cs typeface="Times New Roman MT"/>
                <a:sym typeface="Times New Roman MT"/>
              </a:rPr>
              <a:t>: Menggunakan AnimatedContainer dengan durasi 300ms untuk transisi halus.</a:t>
            </a:r>
          </a:p>
          <a:p>
            <a:pPr algn="l" marL="565423" indent="-282711" lvl="1">
              <a:lnSpc>
                <a:spcPts val="3666"/>
              </a:lnSpc>
              <a:buFont typeface="Arial"/>
              <a:buChar char="•"/>
            </a:pPr>
            <a:r>
              <a:rPr lang="en-US" b="true" sz="2618">
                <a:solidFill>
                  <a:srgbClr val="000000"/>
                </a:solidFill>
                <a:latin typeface="Times New Roman MT Bold"/>
                <a:ea typeface="Times New Roman MT Bold"/>
                <a:cs typeface="Times New Roman MT Bold"/>
                <a:sym typeface="Times New Roman MT Bold"/>
              </a:rPr>
              <a:t>Visual</a:t>
            </a:r>
            <a:r>
              <a:rPr lang="en-US" sz="2618">
                <a:solidFill>
                  <a:srgbClr val="000000"/>
                </a:solidFill>
                <a:latin typeface="Times New Roman MT"/>
                <a:ea typeface="Times New Roman MT"/>
                <a:cs typeface="Times New Roman MT"/>
                <a:sym typeface="Times New Roman MT"/>
              </a:rPr>
              <a:t>: Kotak dengan bayangan dan sudut melengkung.</a:t>
            </a:r>
          </a:p>
          <a:p>
            <a:pPr algn="l">
              <a:lnSpc>
                <a:spcPts val="3666"/>
              </a:lnSpc>
            </a:pPr>
            <a:r>
              <a:rPr lang="en-US" sz="2618">
                <a:solidFill>
                  <a:srgbClr val="000000"/>
                </a:solidFill>
                <a:latin typeface="Times New Roman MT"/>
                <a:ea typeface="Times New Roman MT"/>
                <a:cs typeface="Times New Roman MT"/>
                <a:sym typeface="Times New Roman MT"/>
              </a:rPr>
              <a:t>Tujuan: Demonstrasi penggunaan GestureDetector dan animasi stateful widget.</a:t>
            </a:r>
          </a:p>
          <a:p>
            <a:pPr algn="l">
              <a:lnSpc>
                <a:spcPts val="3666"/>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041774" y="7910210"/>
            <a:ext cx="5748880" cy="574888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4F4F4"/>
            </a:solidFill>
          </p:spPr>
        </p:sp>
        <p:sp>
          <p:nvSpPr>
            <p:cNvPr name="TextBox 4" id="4"/>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5061770" y="6712764"/>
            <a:ext cx="11152028" cy="3248422"/>
          </a:xfrm>
          <a:prstGeom prst="rect">
            <a:avLst/>
          </a:prstGeom>
        </p:spPr>
        <p:txBody>
          <a:bodyPr anchor="t" rtlCol="false" tIns="0" lIns="0" bIns="0" rIns="0">
            <a:spAutoFit/>
          </a:bodyPr>
          <a:lstStyle/>
          <a:p>
            <a:pPr algn="just">
              <a:lnSpc>
                <a:spcPts val="4200"/>
              </a:lnSpc>
            </a:pPr>
            <a:r>
              <a:rPr lang="en-US" sz="3000">
                <a:solidFill>
                  <a:srgbClr val="000000"/>
                </a:solidFill>
                <a:latin typeface="Times New Roman MT"/>
                <a:ea typeface="Times New Roman MT"/>
                <a:cs typeface="Times New Roman MT"/>
                <a:sym typeface="Times New Roman MT"/>
              </a:rPr>
              <a:t>Gambar menampilkan tampilan sebelum dan sesudah gesture tap biasa pada halaman Tap Interaction. Sebelum tap, kotak berukuran 150 piksel dengan warna biru. Setelah tap dilakukan, kotak berubah menjadi berukuran 220 piksel dan warnanya berubah menjadi merah. Transisi perubahan ini berlangsung halus dengan animasi selama 300 milidetik.</a:t>
            </a:r>
          </a:p>
        </p:txBody>
      </p:sp>
      <p:grpSp>
        <p:nvGrpSpPr>
          <p:cNvPr name="Group 6" id="6"/>
          <p:cNvGrpSpPr/>
          <p:nvPr/>
        </p:nvGrpSpPr>
        <p:grpSpPr>
          <a:xfrm rot="0">
            <a:off x="6916214" y="-2058442"/>
            <a:ext cx="3087142" cy="308714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1C54A9"/>
            </a:solidFill>
          </p:spPr>
        </p:sp>
        <p:sp>
          <p:nvSpPr>
            <p:cNvPr name="TextBox 8" id="8"/>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593829" y="5719037"/>
            <a:ext cx="6586978" cy="5604920"/>
          </a:xfrm>
          <a:custGeom>
            <a:avLst/>
            <a:gdLst/>
            <a:ahLst/>
            <a:cxnLst/>
            <a:rect r="r" b="b" t="t" l="l"/>
            <a:pathLst>
              <a:path h="5604920" w="6586978">
                <a:moveTo>
                  <a:pt x="0" y="0"/>
                </a:moveTo>
                <a:lnTo>
                  <a:pt x="6586979" y="0"/>
                </a:lnTo>
                <a:lnTo>
                  <a:pt x="6586979" y="5604919"/>
                </a:lnTo>
                <a:lnTo>
                  <a:pt x="0" y="56049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1028700" y="1438787"/>
            <a:ext cx="7025947" cy="4145766"/>
            <a:chOff x="0" y="0"/>
            <a:chExt cx="1377475" cy="812800"/>
          </a:xfrm>
        </p:grpSpPr>
        <p:sp>
          <p:nvSpPr>
            <p:cNvPr name="Freeform 11" id="11"/>
            <p:cNvSpPr/>
            <p:nvPr/>
          </p:nvSpPr>
          <p:spPr>
            <a:xfrm flipH="false" flipV="false" rot="0">
              <a:off x="0" y="0"/>
              <a:ext cx="1377475" cy="812800"/>
            </a:xfrm>
            <a:custGeom>
              <a:avLst/>
              <a:gdLst/>
              <a:ahLst/>
              <a:cxnLst/>
              <a:rect r="r" b="b" t="t" l="l"/>
              <a:pathLst>
                <a:path h="812800" w="1377475">
                  <a:moveTo>
                    <a:pt x="25344" y="0"/>
                  </a:moveTo>
                  <a:lnTo>
                    <a:pt x="1352132" y="0"/>
                  </a:lnTo>
                  <a:cubicBezTo>
                    <a:pt x="1358853" y="0"/>
                    <a:pt x="1365299" y="2670"/>
                    <a:pt x="1370052" y="7423"/>
                  </a:cubicBezTo>
                  <a:cubicBezTo>
                    <a:pt x="1374805" y="12176"/>
                    <a:pt x="1377475" y="18622"/>
                    <a:pt x="1377475" y="25344"/>
                  </a:cubicBezTo>
                  <a:lnTo>
                    <a:pt x="1377475" y="787456"/>
                  </a:lnTo>
                  <a:cubicBezTo>
                    <a:pt x="1377475" y="801453"/>
                    <a:pt x="1366129" y="812800"/>
                    <a:pt x="1352132" y="812800"/>
                  </a:cubicBezTo>
                  <a:lnTo>
                    <a:pt x="25344" y="812800"/>
                  </a:lnTo>
                  <a:cubicBezTo>
                    <a:pt x="11347" y="812800"/>
                    <a:pt x="0" y="801453"/>
                    <a:pt x="0" y="787456"/>
                  </a:cubicBezTo>
                  <a:lnTo>
                    <a:pt x="0" y="25344"/>
                  </a:lnTo>
                  <a:cubicBezTo>
                    <a:pt x="0" y="11347"/>
                    <a:pt x="11347" y="0"/>
                    <a:pt x="25344" y="0"/>
                  </a:cubicBezTo>
                  <a:close/>
                </a:path>
              </a:pathLst>
            </a:custGeom>
            <a:blipFill>
              <a:blip r:embed="rId4"/>
              <a:stretch>
                <a:fillRect l="0" t="0" r="0" b="-5496"/>
              </a:stretch>
            </a:blipFill>
          </p:spPr>
        </p:sp>
      </p:grpSp>
      <p:grpSp>
        <p:nvGrpSpPr>
          <p:cNvPr name="Group 12" id="12"/>
          <p:cNvGrpSpPr/>
          <p:nvPr/>
        </p:nvGrpSpPr>
        <p:grpSpPr>
          <a:xfrm rot="0">
            <a:off x="10233353" y="1438787"/>
            <a:ext cx="7025947" cy="4145766"/>
            <a:chOff x="0" y="0"/>
            <a:chExt cx="1377475" cy="812800"/>
          </a:xfrm>
        </p:grpSpPr>
        <p:sp>
          <p:nvSpPr>
            <p:cNvPr name="Freeform 13" id="13"/>
            <p:cNvSpPr/>
            <p:nvPr/>
          </p:nvSpPr>
          <p:spPr>
            <a:xfrm flipH="false" flipV="false" rot="0">
              <a:off x="0" y="0"/>
              <a:ext cx="1377475" cy="812800"/>
            </a:xfrm>
            <a:custGeom>
              <a:avLst/>
              <a:gdLst/>
              <a:ahLst/>
              <a:cxnLst/>
              <a:rect r="r" b="b" t="t" l="l"/>
              <a:pathLst>
                <a:path h="812800" w="1377475">
                  <a:moveTo>
                    <a:pt x="25344" y="0"/>
                  </a:moveTo>
                  <a:lnTo>
                    <a:pt x="1352132" y="0"/>
                  </a:lnTo>
                  <a:cubicBezTo>
                    <a:pt x="1358853" y="0"/>
                    <a:pt x="1365299" y="2670"/>
                    <a:pt x="1370052" y="7423"/>
                  </a:cubicBezTo>
                  <a:cubicBezTo>
                    <a:pt x="1374805" y="12176"/>
                    <a:pt x="1377475" y="18622"/>
                    <a:pt x="1377475" y="25344"/>
                  </a:cubicBezTo>
                  <a:lnTo>
                    <a:pt x="1377475" y="787456"/>
                  </a:lnTo>
                  <a:cubicBezTo>
                    <a:pt x="1377475" y="801453"/>
                    <a:pt x="1366129" y="812800"/>
                    <a:pt x="1352132" y="812800"/>
                  </a:cubicBezTo>
                  <a:lnTo>
                    <a:pt x="25344" y="812800"/>
                  </a:lnTo>
                  <a:cubicBezTo>
                    <a:pt x="11347" y="812800"/>
                    <a:pt x="0" y="801453"/>
                    <a:pt x="0" y="787456"/>
                  </a:cubicBezTo>
                  <a:lnTo>
                    <a:pt x="0" y="25344"/>
                  </a:lnTo>
                  <a:cubicBezTo>
                    <a:pt x="0" y="11347"/>
                    <a:pt x="11347" y="0"/>
                    <a:pt x="25344" y="0"/>
                  </a:cubicBezTo>
                  <a:close/>
                </a:path>
              </a:pathLst>
            </a:custGeom>
            <a:blipFill>
              <a:blip r:embed="rId5"/>
              <a:stretch>
                <a:fillRect l="0" t="-2642" r="0" b="-2642"/>
              </a:stretch>
            </a:blipFill>
          </p:spPr>
        </p:sp>
      </p:grpSp>
      <p:grpSp>
        <p:nvGrpSpPr>
          <p:cNvPr name="Group 14" id="14"/>
          <p:cNvGrpSpPr/>
          <p:nvPr/>
        </p:nvGrpSpPr>
        <p:grpSpPr>
          <a:xfrm rot="0">
            <a:off x="8459785" y="3511670"/>
            <a:ext cx="1330869" cy="384574"/>
            <a:chOff x="0" y="0"/>
            <a:chExt cx="2072333" cy="598831"/>
          </a:xfrm>
        </p:grpSpPr>
        <p:sp>
          <p:nvSpPr>
            <p:cNvPr name="Freeform 15" id="15"/>
            <p:cNvSpPr/>
            <p:nvPr/>
          </p:nvSpPr>
          <p:spPr>
            <a:xfrm flipH="false" flipV="false" rot="0">
              <a:off x="0" y="0"/>
              <a:ext cx="2072333" cy="598831"/>
            </a:xfrm>
            <a:custGeom>
              <a:avLst/>
              <a:gdLst/>
              <a:ahLst/>
              <a:cxnLst/>
              <a:rect r="r" b="b" t="t" l="l"/>
              <a:pathLst>
                <a:path h="598831" w="2072333">
                  <a:moveTo>
                    <a:pt x="2072333" y="299415"/>
                  </a:moveTo>
                  <a:lnTo>
                    <a:pt x="1665933" y="0"/>
                  </a:lnTo>
                  <a:lnTo>
                    <a:pt x="1665933" y="203200"/>
                  </a:lnTo>
                  <a:lnTo>
                    <a:pt x="0" y="203200"/>
                  </a:lnTo>
                  <a:lnTo>
                    <a:pt x="0" y="395631"/>
                  </a:lnTo>
                  <a:lnTo>
                    <a:pt x="1665933" y="395631"/>
                  </a:lnTo>
                  <a:lnTo>
                    <a:pt x="1665933" y="598831"/>
                  </a:lnTo>
                  <a:lnTo>
                    <a:pt x="2072333" y="299415"/>
                  </a:lnTo>
                  <a:close/>
                </a:path>
              </a:pathLst>
            </a:custGeom>
            <a:solidFill>
              <a:srgbClr val="1C54A9"/>
            </a:solidFill>
          </p:spPr>
        </p:sp>
        <p:sp>
          <p:nvSpPr>
            <p:cNvPr name="TextBox 16" id="16"/>
            <p:cNvSpPr txBox="true"/>
            <p:nvPr/>
          </p:nvSpPr>
          <p:spPr>
            <a:xfrm>
              <a:off x="0" y="146050"/>
              <a:ext cx="1970733" cy="249581"/>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3933977" y="5626623"/>
            <a:ext cx="1215393" cy="581091"/>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MT"/>
                <a:ea typeface="Times New Roman MT"/>
                <a:cs typeface="Times New Roman MT"/>
                <a:sym typeface="Times New Roman MT"/>
              </a:rPr>
              <a:t>Before</a:t>
            </a:r>
          </a:p>
        </p:txBody>
      </p:sp>
      <p:sp>
        <p:nvSpPr>
          <p:cNvPr name="TextBox 18" id="18"/>
          <p:cNvSpPr txBox="true"/>
          <p:nvPr/>
        </p:nvSpPr>
        <p:spPr>
          <a:xfrm rot="0">
            <a:off x="13138630" y="5626623"/>
            <a:ext cx="1215393" cy="581091"/>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MT"/>
                <a:ea typeface="Times New Roman MT"/>
                <a:cs typeface="Times New Roman MT"/>
                <a:sym typeface="Times New Roman MT"/>
              </a:rPr>
              <a:t>After</a:t>
            </a:r>
          </a:p>
        </p:txBody>
      </p:sp>
      <p:sp>
        <p:nvSpPr>
          <p:cNvPr name="TextBox 19" id="19"/>
          <p:cNvSpPr txBox="true"/>
          <p:nvPr/>
        </p:nvSpPr>
        <p:spPr>
          <a:xfrm rot="0">
            <a:off x="626380" y="460854"/>
            <a:ext cx="5049983" cy="816008"/>
          </a:xfrm>
          <a:prstGeom prst="rect">
            <a:avLst/>
          </a:prstGeom>
        </p:spPr>
        <p:txBody>
          <a:bodyPr anchor="t" rtlCol="false" tIns="0" lIns="0" bIns="0" rIns="0">
            <a:spAutoFit/>
          </a:bodyPr>
          <a:lstStyle/>
          <a:p>
            <a:pPr algn="l">
              <a:lnSpc>
                <a:spcPts val="5500"/>
              </a:lnSpc>
            </a:pPr>
            <a:r>
              <a:rPr lang="en-US" sz="5000" b="true">
                <a:solidFill>
                  <a:srgbClr val="0B2957"/>
                </a:solidFill>
                <a:latin typeface="Times New Roman MT Bold"/>
                <a:ea typeface="Times New Roman MT Bold"/>
                <a:cs typeface="Times New Roman MT Bold"/>
                <a:sym typeface="Times New Roman MT Bold"/>
              </a:rPr>
              <a:t>Gestur Single Tap</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041774" y="7910210"/>
            <a:ext cx="5748880" cy="574888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4F4F4"/>
            </a:solidFill>
          </p:spPr>
        </p:sp>
        <p:sp>
          <p:nvSpPr>
            <p:cNvPr name="TextBox 4" id="4"/>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5061770" y="6627039"/>
            <a:ext cx="11152028" cy="3248422"/>
          </a:xfrm>
          <a:prstGeom prst="rect">
            <a:avLst/>
          </a:prstGeom>
        </p:spPr>
        <p:txBody>
          <a:bodyPr anchor="t" rtlCol="false" tIns="0" lIns="0" bIns="0" rIns="0">
            <a:spAutoFit/>
          </a:bodyPr>
          <a:lstStyle/>
          <a:p>
            <a:pPr algn="just">
              <a:lnSpc>
                <a:spcPts val="4200"/>
              </a:lnSpc>
            </a:pPr>
            <a:r>
              <a:rPr lang="en-US" sz="3000">
                <a:solidFill>
                  <a:srgbClr val="000000"/>
                </a:solidFill>
                <a:latin typeface="Times New Roman MT"/>
                <a:ea typeface="Times New Roman MT"/>
                <a:cs typeface="Times New Roman MT"/>
                <a:sym typeface="Times New Roman MT"/>
              </a:rPr>
              <a:t>Gambar menampilkan tampilan setelah gesture double tap pada halaman Tap Interaction. Saat pengguna melakukan ketukan dua kali secara cepat pada kotak, warna kotak berubah menjadi hijau. Ukuran kotak tetap sesuai dengan kondisi terakhir dari gesture sebelumnya, sedangkan perubahan warna terjadi secara instan dengan animasi halus selama 300 milidetik.</a:t>
            </a:r>
          </a:p>
        </p:txBody>
      </p:sp>
      <p:grpSp>
        <p:nvGrpSpPr>
          <p:cNvPr name="Group 6" id="6"/>
          <p:cNvGrpSpPr/>
          <p:nvPr/>
        </p:nvGrpSpPr>
        <p:grpSpPr>
          <a:xfrm rot="0">
            <a:off x="6916214" y="-2058442"/>
            <a:ext cx="3087142" cy="308714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1C54A9"/>
            </a:solidFill>
          </p:spPr>
        </p:sp>
        <p:sp>
          <p:nvSpPr>
            <p:cNvPr name="TextBox 8" id="8"/>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593829" y="5719037"/>
            <a:ext cx="6586978" cy="5604920"/>
          </a:xfrm>
          <a:custGeom>
            <a:avLst/>
            <a:gdLst/>
            <a:ahLst/>
            <a:cxnLst/>
            <a:rect r="r" b="b" t="t" l="l"/>
            <a:pathLst>
              <a:path h="5604920" w="6586978">
                <a:moveTo>
                  <a:pt x="0" y="0"/>
                </a:moveTo>
                <a:lnTo>
                  <a:pt x="6586979" y="0"/>
                </a:lnTo>
                <a:lnTo>
                  <a:pt x="6586979" y="5604919"/>
                </a:lnTo>
                <a:lnTo>
                  <a:pt x="0" y="56049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1028700" y="1353062"/>
            <a:ext cx="7025947" cy="4145766"/>
            <a:chOff x="0" y="0"/>
            <a:chExt cx="1377475" cy="812800"/>
          </a:xfrm>
        </p:grpSpPr>
        <p:sp>
          <p:nvSpPr>
            <p:cNvPr name="Freeform 11" id="11"/>
            <p:cNvSpPr/>
            <p:nvPr/>
          </p:nvSpPr>
          <p:spPr>
            <a:xfrm flipH="false" flipV="false" rot="0">
              <a:off x="0" y="0"/>
              <a:ext cx="1377475" cy="812800"/>
            </a:xfrm>
            <a:custGeom>
              <a:avLst/>
              <a:gdLst/>
              <a:ahLst/>
              <a:cxnLst/>
              <a:rect r="r" b="b" t="t" l="l"/>
              <a:pathLst>
                <a:path h="812800" w="1377475">
                  <a:moveTo>
                    <a:pt x="25344" y="0"/>
                  </a:moveTo>
                  <a:lnTo>
                    <a:pt x="1352132" y="0"/>
                  </a:lnTo>
                  <a:cubicBezTo>
                    <a:pt x="1358853" y="0"/>
                    <a:pt x="1365299" y="2670"/>
                    <a:pt x="1370052" y="7423"/>
                  </a:cubicBezTo>
                  <a:cubicBezTo>
                    <a:pt x="1374805" y="12176"/>
                    <a:pt x="1377475" y="18622"/>
                    <a:pt x="1377475" y="25344"/>
                  </a:cubicBezTo>
                  <a:lnTo>
                    <a:pt x="1377475" y="787456"/>
                  </a:lnTo>
                  <a:cubicBezTo>
                    <a:pt x="1377475" y="801453"/>
                    <a:pt x="1366129" y="812800"/>
                    <a:pt x="1352132" y="812800"/>
                  </a:cubicBezTo>
                  <a:lnTo>
                    <a:pt x="25344" y="812800"/>
                  </a:lnTo>
                  <a:cubicBezTo>
                    <a:pt x="11347" y="812800"/>
                    <a:pt x="0" y="801453"/>
                    <a:pt x="0" y="787456"/>
                  </a:cubicBezTo>
                  <a:lnTo>
                    <a:pt x="0" y="25344"/>
                  </a:lnTo>
                  <a:cubicBezTo>
                    <a:pt x="0" y="11347"/>
                    <a:pt x="11347" y="0"/>
                    <a:pt x="25344" y="0"/>
                  </a:cubicBezTo>
                  <a:close/>
                </a:path>
              </a:pathLst>
            </a:custGeom>
            <a:blipFill>
              <a:blip r:embed="rId4"/>
              <a:stretch>
                <a:fillRect l="0" t="-2642" r="0" b="-2642"/>
              </a:stretch>
            </a:blipFill>
          </p:spPr>
        </p:sp>
      </p:grpSp>
      <p:grpSp>
        <p:nvGrpSpPr>
          <p:cNvPr name="Group 12" id="12"/>
          <p:cNvGrpSpPr/>
          <p:nvPr/>
        </p:nvGrpSpPr>
        <p:grpSpPr>
          <a:xfrm rot="0">
            <a:off x="10233353" y="1353062"/>
            <a:ext cx="7025947" cy="4145766"/>
            <a:chOff x="0" y="0"/>
            <a:chExt cx="1377475" cy="812800"/>
          </a:xfrm>
        </p:grpSpPr>
        <p:sp>
          <p:nvSpPr>
            <p:cNvPr name="Freeform 13" id="13"/>
            <p:cNvSpPr/>
            <p:nvPr/>
          </p:nvSpPr>
          <p:spPr>
            <a:xfrm flipH="false" flipV="false" rot="0">
              <a:off x="0" y="0"/>
              <a:ext cx="1377475" cy="812800"/>
            </a:xfrm>
            <a:custGeom>
              <a:avLst/>
              <a:gdLst/>
              <a:ahLst/>
              <a:cxnLst/>
              <a:rect r="r" b="b" t="t" l="l"/>
              <a:pathLst>
                <a:path h="812800" w="1377475">
                  <a:moveTo>
                    <a:pt x="25344" y="0"/>
                  </a:moveTo>
                  <a:lnTo>
                    <a:pt x="1352132" y="0"/>
                  </a:lnTo>
                  <a:cubicBezTo>
                    <a:pt x="1358853" y="0"/>
                    <a:pt x="1365299" y="2670"/>
                    <a:pt x="1370052" y="7423"/>
                  </a:cubicBezTo>
                  <a:cubicBezTo>
                    <a:pt x="1374805" y="12176"/>
                    <a:pt x="1377475" y="18622"/>
                    <a:pt x="1377475" y="25344"/>
                  </a:cubicBezTo>
                  <a:lnTo>
                    <a:pt x="1377475" y="787456"/>
                  </a:lnTo>
                  <a:cubicBezTo>
                    <a:pt x="1377475" y="801453"/>
                    <a:pt x="1366129" y="812800"/>
                    <a:pt x="1352132" y="812800"/>
                  </a:cubicBezTo>
                  <a:lnTo>
                    <a:pt x="25344" y="812800"/>
                  </a:lnTo>
                  <a:cubicBezTo>
                    <a:pt x="11347" y="812800"/>
                    <a:pt x="0" y="801453"/>
                    <a:pt x="0" y="787456"/>
                  </a:cubicBezTo>
                  <a:lnTo>
                    <a:pt x="0" y="25344"/>
                  </a:lnTo>
                  <a:cubicBezTo>
                    <a:pt x="0" y="11347"/>
                    <a:pt x="11347" y="0"/>
                    <a:pt x="25344" y="0"/>
                  </a:cubicBezTo>
                  <a:close/>
                </a:path>
              </a:pathLst>
            </a:custGeom>
            <a:blipFill>
              <a:blip r:embed="rId5"/>
              <a:stretch>
                <a:fillRect l="0" t="-2854" r="0" b="-2854"/>
              </a:stretch>
            </a:blipFill>
          </p:spPr>
        </p:sp>
      </p:grpSp>
      <p:grpSp>
        <p:nvGrpSpPr>
          <p:cNvPr name="Group 14" id="14"/>
          <p:cNvGrpSpPr/>
          <p:nvPr/>
        </p:nvGrpSpPr>
        <p:grpSpPr>
          <a:xfrm rot="0">
            <a:off x="8459785" y="3425945"/>
            <a:ext cx="1330869" cy="384574"/>
            <a:chOff x="0" y="0"/>
            <a:chExt cx="2072333" cy="598831"/>
          </a:xfrm>
        </p:grpSpPr>
        <p:sp>
          <p:nvSpPr>
            <p:cNvPr name="Freeform 15" id="15"/>
            <p:cNvSpPr/>
            <p:nvPr/>
          </p:nvSpPr>
          <p:spPr>
            <a:xfrm flipH="false" flipV="false" rot="0">
              <a:off x="0" y="0"/>
              <a:ext cx="2072333" cy="598831"/>
            </a:xfrm>
            <a:custGeom>
              <a:avLst/>
              <a:gdLst/>
              <a:ahLst/>
              <a:cxnLst/>
              <a:rect r="r" b="b" t="t" l="l"/>
              <a:pathLst>
                <a:path h="598831" w="2072333">
                  <a:moveTo>
                    <a:pt x="2072333" y="299415"/>
                  </a:moveTo>
                  <a:lnTo>
                    <a:pt x="1665933" y="0"/>
                  </a:lnTo>
                  <a:lnTo>
                    <a:pt x="1665933" y="203200"/>
                  </a:lnTo>
                  <a:lnTo>
                    <a:pt x="0" y="203200"/>
                  </a:lnTo>
                  <a:lnTo>
                    <a:pt x="0" y="395631"/>
                  </a:lnTo>
                  <a:lnTo>
                    <a:pt x="1665933" y="395631"/>
                  </a:lnTo>
                  <a:lnTo>
                    <a:pt x="1665933" y="598831"/>
                  </a:lnTo>
                  <a:lnTo>
                    <a:pt x="2072333" y="299415"/>
                  </a:lnTo>
                  <a:close/>
                </a:path>
              </a:pathLst>
            </a:custGeom>
            <a:solidFill>
              <a:srgbClr val="1C54A9"/>
            </a:solidFill>
          </p:spPr>
        </p:sp>
        <p:sp>
          <p:nvSpPr>
            <p:cNvPr name="TextBox 16" id="16"/>
            <p:cNvSpPr txBox="true"/>
            <p:nvPr/>
          </p:nvSpPr>
          <p:spPr>
            <a:xfrm>
              <a:off x="0" y="146050"/>
              <a:ext cx="1970733" cy="249581"/>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3933977" y="5540898"/>
            <a:ext cx="1215393" cy="581091"/>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MT"/>
                <a:ea typeface="Times New Roman MT"/>
                <a:cs typeface="Times New Roman MT"/>
                <a:sym typeface="Times New Roman MT"/>
              </a:rPr>
              <a:t>Before</a:t>
            </a:r>
          </a:p>
        </p:txBody>
      </p:sp>
      <p:sp>
        <p:nvSpPr>
          <p:cNvPr name="TextBox 18" id="18"/>
          <p:cNvSpPr txBox="true"/>
          <p:nvPr/>
        </p:nvSpPr>
        <p:spPr>
          <a:xfrm rot="0">
            <a:off x="13138630" y="5540898"/>
            <a:ext cx="1215393" cy="581091"/>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MT"/>
                <a:ea typeface="Times New Roman MT"/>
                <a:cs typeface="Times New Roman MT"/>
                <a:sym typeface="Times New Roman MT"/>
              </a:rPr>
              <a:t>After</a:t>
            </a:r>
          </a:p>
        </p:txBody>
      </p:sp>
      <p:sp>
        <p:nvSpPr>
          <p:cNvPr name="TextBox 19" id="19"/>
          <p:cNvSpPr txBox="true"/>
          <p:nvPr/>
        </p:nvSpPr>
        <p:spPr>
          <a:xfrm rot="0">
            <a:off x="626380" y="460854"/>
            <a:ext cx="5603483" cy="816008"/>
          </a:xfrm>
          <a:prstGeom prst="rect">
            <a:avLst/>
          </a:prstGeom>
        </p:spPr>
        <p:txBody>
          <a:bodyPr anchor="t" rtlCol="false" tIns="0" lIns="0" bIns="0" rIns="0">
            <a:spAutoFit/>
          </a:bodyPr>
          <a:lstStyle/>
          <a:p>
            <a:pPr algn="l">
              <a:lnSpc>
                <a:spcPts val="5500"/>
              </a:lnSpc>
            </a:pPr>
            <a:r>
              <a:rPr lang="en-US" sz="5000" b="true">
                <a:solidFill>
                  <a:srgbClr val="0B2957"/>
                </a:solidFill>
                <a:latin typeface="Times New Roman MT Bold"/>
                <a:ea typeface="Times New Roman MT Bold"/>
                <a:cs typeface="Times New Roman MT Bold"/>
                <a:sym typeface="Times New Roman MT Bold"/>
              </a:rPr>
              <a:t>Gestur Double Tap</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041774" y="7910210"/>
            <a:ext cx="5748880" cy="574888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4F4F4"/>
            </a:solidFill>
          </p:spPr>
        </p:sp>
        <p:sp>
          <p:nvSpPr>
            <p:cNvPr name="TextBox 4" id="4"/>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5061770" y="6627039"/>
            <a:ext cx="11152028" cy="3248422"/>
          </a:xfrm>
          <a:prstGeom prst="rect">
            <a:avLst/>
          </a:prstGeom>
        </p:spPr>
        <p:txBody>
          <a:bodyPr anchor="t" rtlCol="false" tIns="0" lIns="0" bIns="0" rIns="0">
            <a:spAutoFit/>
          </a:bodyPr>
          <a:lstStyle/>
          <a:p>
            <a:pPr algn="just">
              <a:lnSpc>
                <a:spcPts val="4200"/>
              </a:lnSpc>
            </a:pPr>
            <a:r>
              <a:rPr lang="en-US" sz="3000">
                <a:solidFill>
                  <a:srgbClr val="000000"/>
                </a:solidFill>
                <a:latin typeface="Times New Roman MT"/>
                <a:ea typeface="Times New Roman MT"/>
                <a:cs typeface="Times New Roman MT"/>
                <a:sym typeface="Times New Roman MT"/>
              </a:rPr>
              <a:t>Gambar menampilkan tampilan setelah gesture long press pada halaman Tap Interaction. Saat pengguna menekan dan menahan kotak dalam waktu yang lama, ukuran kotak membesar menjadi 250 piksel. Warna kotak tetap sesuai dengan kondisi terakhir dari gesture sebelumnya, sedangkan perubahan ukuran terjadi secara bertahap dengan animasi halus selama 300 milidetik.</a:t>
            </a:r>
          </a:p>
        </p:txBody>
      </p:sp>
      <p:grpSp>
        <p:nvGrpSpPr>
          <p:cNvPr name="Group 6" id="6"/>
          <p:cNvGrpSpPr/>
          <p:nvPr/>
        </p:nvGrpSpPr>
        <p:grpSpPr>
          <a:xfrm rot="0">
            <a:off x="6916214" y="-2058442"/>
            <a:ext cx="3087142" cy="308714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1C54A9"/>
            </a:solidFill>
          </p:spPr>
        </p:sp>
        <p:sp>
          <p:nvSpPr>
            <p:cNvPr name="TextBox 8" id="8"/>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593829" y="5719037"/>
            <a:ext cx="6586978" cy="5604920"/>
          </a:xfrm>
          <a:custGeom>
            <a:avLst/>
            <a:gdLst/>
            <a:ahLst/>
            <a:cxnLst/>
            <a:rect r="r" b="b" t="t" l="l"/>
            <a:pathLst>
              <a:path h="5604920" w="6586978">
                <a:moveTo>
                  <a:pt x="0" y="0"/>
                </a:moveTo>
                <a:lnTo>
                  <a:pt x="6586979" y="0"/>
                </a:lnTo>
                <a:lnTo>
                  <a:pt x="6586979" y="5604919"/>
                </a:lnTo>
                <a:lnTo>
                  <a:pt x="0" y="56049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1028700" y="1353062"/>
            <a:ext cx="7025947" cy="4145766"/>
            <a:chOff x="0" y="0"/>
            <a:chExt cx="1377475" cy="812800"/>
          </a:xfrm>
        </p:grpSpPr>
        <p:sp>
          <p:nvSpPr>
            <p:cNvPr name="Freeform 11" id="11"/>
            <p:cNvSpPr/>
            <p:nvPr/>
          </p:nvSpPr>
          <p:spPr>
            <a:xfrm flipH="false" flipV="false" rot="0">
              <a:off x="0" y="0"/>
              <a:ext cx="1377475" cy="812800"/>
            </a:xfrm>
            <a:custGeom>
              <a:avLst/>
              <a:gdLst/>
              <a:ahLst/>
              <a:cxnLst/>
              <a:rect r="r" b="b" t="t" l="l"/>
              <a:pathLst>
                <a:path h="812800" w="1377475">
                  <a:moveTo>
                    <a:pt x="25344" y="0"/>
                  </a:moveTo>
                  <a:lnTo>
                    <a:pt x="1352132" y="0"/>
                  </a:lnTo>
                  <a:cubicBezTo>
                    <a:pt x="1358853" y="0"/>
                    <a:pt x="1365299" y="2670"/>
                    <a:pt x="1370052" y="7423"/>
                  </a:cubicBezTo>
                  <a:cubicBezTo>
                    <a:pt x="1374805" y="12176"/>
                    <a:pt x="1377475" y="18622"/>
                    <a:pt x="1377475" y="25344"/>
                  </a:cubicBezTo>
                  <a:lnTo>
                    <a:pt x="1377475" y="787456"/>
                  </a:lnTo>
                  <a:cubicBezTo>
                    <a:pt x="1377475" y="801453"/>
                    <a:pt x="1366129" y="812800"/>
                    <a:pt x="1352132" y="812800"/>
                  </a:cubicBezTo>
                  <a:lnTo>
                    <a:pt x="25344" y="812800"/>
                  </a:lnTo>
                  <a:cubicBezTo>
                    <a:pt x="11347" y="812800"/>
                    <a:pt x="0" y="801453"/>
                    <a:pt x="0" y="787456"/>
                  </a:cubicBezTo>
                  <a:lnTo>
                    <a:pt x="0" y="25344"/>
                  </a:lnTo>
                  <a:cubicBezTo>
                    <a:pt x="0" y="11347"/>
                    <a:pt x="11347" y="0"/>
                    <a:pt x="25344" y="0"/>
                  </a:cubicBezTo>
                  <a:close/>
                </a:path>
              </a:pathLst>
            </a:custGeom>
            <a:blipFill>
              <a:blip r:embed="rId4"/>
              <a:stretch>
                <a:fillRect l="0" t="-2854" r="0" b="-2854"/>
              </a:stretch>
            </a:blipFill>
          </p:spPr>
        </p:sp>
      </p:grpSp>
      <p:grpSp>
        <p:nvGrpSpPr>
          <p:cNvPr name="Group 12" id="12"/>
          <p:cNvGrpSpPr/>
          <p:nvPr/>
        </p:nvGrpSpPr>
        <p:grpSpPr>
          <a:xfrm rot="0">
            <a:off x="10233353" y="1353062"/>
            <a:ext cx="7025947" cy="4145766"/>
            <a:chOff x="0" y="0"/>
            <a:chExt cx="1377475" cy="812800"/>
          </a:xfrm>
        </p:grpSpPr>
        <p:sp>
          <p:nvSpPr>
            <p:cNvPr name="Freeform 13" id="13"/>
            <p:cNvSpPr/>
            <p:nvPr/>
          </p:nvSpPr>
          <p:spPr>
            <a:xfrm flipH="false" flipV="false" rot="0">
              <a:off x="0" y="0"/>
              <a:ext cx="1377475" cy="812800"/>
            </a:xfrm>
            <a:custGeom>
              <a:avLst/>
              <a:gdLst/>
              <a:ahLst/>
              <a:cxnLst/>
              <a:rect r="r" b="b" t="t" l="l"/>
              <a:pathLst>
                <a:path h="812800" w="1377475">
                  <a:moveTo>
                    <a:pt x="25344" y="0"/>
                  </a:moveTo>
                  <a:lnTo>
                    <a:pt x="1352132" y="0"/>
                  </a:lnTo>
                  <a:cubicBezTo>
                    <a:pt x="1358853" y="0"/>
                    <a:pt x="1365299" y="2670"/>
                    <a:pt x="1370052" y="7423"/>
                  </a:cubicBezTo>
                  <a:cubicBezTo>
                    <a:pt x="1374805" y="12176"/>
                    <a:pt x="1377475" y="18622"/>
                    <a:pt x="1377475" y="25344"/>
                  </a:cubicBezTo>
                  <a:lnTo>
                    <a:pt x="1377475" y="787456"/>
                  </a:lnTo>
                  <a:cubicBezTo>
                    <a:pt x="1377475" y="801453"/>
                    <a:pt x="1366129" y="812800"/>
                    <a:pt x="1352132" y="812800"/>
                  </a:cubicBezTo>
                  <a:lnTo>
                    <a:pt x="25344" y="812800"/>
                  </a:lnTo>
                  <a:cubicBezTo>
                    <a:pt x="11347" y="812800"/>
                    <a:pt x="0" y="801453"/>
                    <a:pt x="0" y="787456"/>
                  </a:cubicBezTo>
                  <a:lnTo>
                    <a:pt x="0" y="25344"/>
                  </a:lnTo>
                  <a:cubicBezTo>
                    <a:pt x="0" y="11347"/>
                    <a:pt x="11347" y="0"/>
                    <a:pt x="25344" y="0"/>
                  </a:cubicBezTo>
                  <a:close/>
                </a:path>
              </a:pathLst>
            </a:custGeom>
            <a:blipFill>
              <a:blip r:embed="rId5"/>
              <a:stretch>
                <a:fillRect l="0" t="-3066" r="0" b="-3066"/>
              </a:stretch>
            </a:blipFill>
          </p:spPr>
        </p:sp>
      </p:grpSp>
      <p:grpSp>
        <p:nvGrpSpPr>
          <p:cNvPr name="Group 14" id="14"/>
          <p:cNvGrpSpPr/>
          <p:nvPr/>
        </p:nvGrpSpPr>
        <p:grpSpPr>
          <a:xfrm rot="0">
            <a:off x="8459785" y="3425945"/>
            <a:ext cx="1330869" cy="384574"/>
            <a:chOff x="0" y="0"/>
            <a:chExt cx="2072333" cy="598831"/>
          </a:xfrm>
        </p:grpSpPr>
        <p:sp>
          <p:nvSpPr>
            <p:cNvPr name="Freeform 15" id="15"/>
            <p:cNvSpPr/>
            <p:nvPr/>
          </p:nvSpPr>
          <p:spPr>
            <a:xfrm flipH="false" flipV="false" rot="0">
              <a:off x="0" y="0"/>
              <a:ext cx="2072333" cy="598831"/>
            </a:xfrm>
            <a:custGeom>
              <a:avLst/>
              <a:gdLst/>
              <a:ahLst/>
              <a:cxnLst/>
              <a:rect r="r" b="b" t="t" l="l"/>
              <a:pathLst>
                <a:path h="598831" w="2072333">
                  <a:moveTo>
                    <a:pt x="2072333" y="299415"/>
                  </a:moveTo>
                  <a:lnTo>
                    <a:pt x="1665933" y="0"/>
                  </a:lnTo>
                  <a:lnTo>
                    <a:pt x="1665933" y="203200"/>
                  </a:lnTo>
                  <a:lnTo>
                    <a:pt x="0" y="203200"/>
                  </a:lnTo>
                  <a:lnTo>
                    <a:pt x="0" y="395631"/>
                  </a:lnTo>
                  <a:lnTo>
                    <a:pt x="1665933" y="395631"/>
                  </a:lnTo>
                  <a:lnTo>
                    <a:pt x="1665933" y="598831"/>
                  </a:lnTo>
                  <a:lnTo>
                    <a:pt x="2072333" y="299415"/>
                  </a:lnTo>
                  <a:close/>
                </a:path>
              </a:pathLst>
            </a:custGeom>
            <a:solidFill>
              <a:srgbClr val="1C54A9"/>
            </a:solidFill>
          </p:spPr>
        </p:sp>
        <p:sp>
          <p:nvSpPr>
            <p:cNvPr name="TextBox 16" id="16"/>
            <p:cNvSpPr txBox="true"/>
            <p:nvPr/>
          </p:nvSpPr>
          <p:spPr>
            <a:xfrm>
              <a:off x="0" y="146050"/>
              <a:ext cx="1970733" cy="249581"/>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3933977" y="5540898"/>
            <a:ext cx="1215393" cy="581091"/>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MT"/>
                <a:ea typeface="Times New Roman MT"/>
                <a:cs typeface="Times New Roman MT"/>
                <a:sym typeface="Times New Roman MT"/>
              </a:rPr>
              <a:t>Before</a:t>
            </a:r>
          </a:p>
        </p:txBody>
      </p:sp>
      <p:sp>
        <p:nvSpPr>
          <p:cNvPr name="TextBox 18" id="18"/>
          <p:cNvSpPr txBox="true"/>
          <p:nvPr/>
        </p:nvSpPr>
        <p:spPr>
          <a:xfrm rot="0">
            <a:off x="13138630" y="5540898"/>
            <a:ext cx="1215393" cy="581091"/>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MT"/>
                <a:ea typeface="Times New Roman MT"/>
                <a:cs typeface="Times New Roman MT"/>
                <a:sym typeface="Times New Roman MT"/>
              </a:rPr>
              <a:t>After</a:t>
            </a:r>
          </a:p>
        </p:txBody>
      </p:sp>
      <p:sp>
        <p:nvSpPr>
          <p:cNvPr name="TextBox 19" id="19"/>
          <p:cNvSpPr txBox="true"/>
          <p:nvPr/>
        </p:nvSpPr>
        <p:spPr>
          <a:xfrm rot="0">
            <a:off x="626380" y="460854"/>
            <a:ext cx="5603483" cy="816008"/>
          </a:xfrm>
          <a:prstGeom prst="rect">
            <a:avLst/>
          </a:prstGeom>
        </p:spPr>
        <p:txBody>
          <a:bodyPr anchor="t" rtlCol="false" tIns="0" lIns="0" bIns="0" rIns="0">
            <a:spAutoFit/>
          </a:bodyPr>
          <a:lstStyle/>
          <a:p>
            <a:pPr algn="l">
              <a:lnSpc>
                <a:spcPts val="5500"/>
              </a:lnSpc>
            </a:pPr>
            <a:r>
              <a:rPr lang="en-US" sz="5000" b="true">
                <a:solidFill>
                  <a:srgbClr val="0B2957"/>
                </a:solidFill>
                <a:latin typeface="Times New Roman MT Bold"/>
                <a:ea typeface="Times New Roman MT Bold"/>
                <a:cs typeface="Times New Roman MT Bold"/>
                <a:sym typeface="Times New Roman MT Bold"/>
              </a:rPr>
              <a:t>Gestur Long Tap</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019896" y="-1735495"/>
            <a:ext cx="7687716" cy="6052329"/>
          </a:xfrm>
          <a:custGeom>
            <a:avLst/>
            <a:gdLst/>
            <a:ahLst/>
            <a:cxnLst/>
            <a:rect r="r" b="b" t="t" l="l"/>
            <a:pathLst>
              <a:path h="6052329" w="7687716">
                <a:moveTo>
                  <a:pt x="7687716" y="0"/>
                </a:moveTo>
                <a:lnTo>
                  <a:pt x="0" y="0"/>
                </a:lnTo>
                <a:lnTo>
                  <a:pt x="0" y="6052329"/>
                </a:lnTo>
                <a:lnTo>
                  <a:pt x="7687716" y="6052329"/>
                </a:lnTo>
                <a:lnTo>
                  <a:pt x="7687716"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140059" y="1028700"/>
            <a:ext cx="8168759" cy="816875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4F4F4"/>
            </a:solidFill>
          </p:spPr>
        </p:sp>
        <p:sp>
          <p:nvSpPr>
            <p:cNvPr name="TextBox 5" id="5"/>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8458554" y="8743429"/>
            <a:ext cx="3087142" cy="308714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1C54A9"/>
            </a:solidFill>
          </p:spPr>
        </p:sp>
        <p:sp>
          <p:nvSpPr>
            <p:cNvPr name="TextBox 8" id="8"/>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1226936" y="1055408"/>
            <a:ext cx="6340191" cy="8312643"/>
            <a:chOff x="0" y="0"/>
            <a:chExt cx="812800" cy="1065665"/>
          </a:xfrm>
        </p:grpSpPr>
        <p:sp>
          <p:nvSpPr>
            <p:cNvPr name="Freeform 10" id="10"/>
            <p:cNvSpPr/>
            <p:nvPr/>
          </p:nvSpPr>
          <p:spPr>
            <a:xfrm flipH="false" flipV="false" rot="0">
              <a:off x="0" y="0"/>
              <a:ext cx="812800" cy="1065665"/>
            </a:xfrm>
            <a:custGeom>
              <a:avLst/>
              <a:gdLst/>
              <a:ahLst/>
              <a:cxnLst/>
              <a:rect r="r" b="b" t="t" l="l"/>
              <a:pathLst>
                <a:path h="1065665" w="812800">
                  <a:moveTo>
                    <a:pt x="28085" y="0"/>
                  </a:moveTo>
                  <a:lnTo>
                    <a:pt x="784715" y="0"/>
                  </a:lnTo>
                  <a:cubicBezTo>
                    <a:pt x="800226" y="0"/>
                    <a:pt x="812800" y="12574"/>
                    <a:pt x="812800" y="28085"/>
                  </a:cubicBezTo>
                  <a:lnTo>
                    <a:pt x="812800" y="1037580"/>
                  </a:lnTo>
                  <a:cubicBezTo>
                    <a:pt x="812800" y="1053091"/>
                    <a:pt x="800226" y="1065665"/>
                    <a:pt x="784715" y="1065665"/>
                  </a:cubicBezTo>
                  <a:lnTo>
                    <a:pt x="28085" y="1065665"/>
                  </a:lnTo>
                  <a:cubicBezTo>
                    <a:pt x="12574" y="1065665"/>
                    <a:pt x="0" y="1053091"/>
                    <a:pt x="0" y="1037580"/>
                  </a:cubicBezTo>
                  <a:lnTo>
                    <a:pt x="0" y="28085"/>
                  </a:lnTo>
                  <a:cubicBezTo>
                    <a:pt x="0" y="12574"/>
                    <a:pt x="12574" y="0"/>
                    <a:pt x="28085" y="0"/>
                  </a:cubicBezTo>
                  <a:close/>
                </a:path>
              </a:pathLst>
            </a:custGeom>
            <a:blipFill>
              <a:blip r:embed="rId4"/>
              <a:stretch>
                <a:fillRect l="-4793" t="-5152" r="-5408" b="-4540"/>
              </a:stretch>
            </a:blipFill>
          </p:spPr>
        </p:sp>
      </p:grpSp>
      <p:sp>
        <p:nvSpPr>
          <p:cNvPr name="TextBox 11" id="11"/>
          <p:cNvSpPr txBox="true"/>
          <p:nvPr/>
        </p:nvSpPr>
        <p:spPr>
          <a:xfrm rot="0">
            <a:off x="1311665" y="1233519"/>
            <a:ext cx="9425266" cy="816008"/>
          </a:xfrm>
          <a:prstGeom prst="rect">
            <a:avLst/>
          </a:prstGeom>
        </p:spPr>
        <p:txBody>
          <a:bodyPr anchor="t" rtlCol="false" tIns="0" lIns="0" bIns="0" rIns="0">
            <a:spAutoFit/>
          </a:bodyPr>
          <a:lstStyle/>
          <a:p>
            <a:pPr algn="l">
              <a:lnSpc>
                <a:spcPts val="5500"/>
              </a:lnSpc>
            </a:pPr>
            <a:r>
              <a:rPr lang="en-US" sz="5000" b="true">
                <a:solidFill>
                  <a:srgbClr val="0B2957"/>
                </a:solidFill>
                <a:latin typeface="Times New Roman MT Bold"/>
                <a:ea typeface="Times New Roman MT Bold"/>
                <a:cs typeface="Times New Roman MT Bold"/>
                <a:sym typeface="Times New Roman MT Bold"/>
              </a:rPr>
              <a:t>Program Implementasi Drag</a:t>
            </a:r>
          </a:p>
        </p:txBody>
      </p:sp>
      <p:sp>
        <p:nvSpPr>
          <p:cNvPr name="TextBox 12" id="12"/>
          <p:cNvSpPr txBox="true"/>
          <p:nvPr/>
        </p:nvSpPr>
        <p:spPr>
          <a:xfrm rot="0">
            <a:off x="1311665" y="2092237"/>
            <a:ext cx="8831044" cy="6896751"/>
          </a:xfrm>
          <a:prstGeom prst="rect">
            <a:avLst/>
          </a:prstGeom>
        </p:spPr>
        <p:txBody>
          <a:bodyPr anchor="t" rtlCol="false" tIns="0" lIns="0" bIns="0" rIns="0">
            <a:spAutoFit/>
          </a:bodyPr>
          <a:lstStyle/>
          <a:p>
            <a:pPr algn="just">
              <a:lnSpc>
                <a:spcPts val="3666"/>
              </a:lnSpc>
            </a:pPr>
            <a:r>
              <a:rPr lang="en-US" sz="2618">
                <a:solidFill>
                  <a:srgbClr val="000000"/>
                </a:solidFill>
                <a:latin typeface="Times New Roman MT"/>
                <a:ea typeface="Times New Roman MT"/>
                <a:cs typeface="Times New Roman MT"/>
                <a:sym typeface="Times New Roman MT"/>
              </a:rPr>
              <a:t>Dr</a:t>
            </a:r>
            <a:r>
              <a:rPr lang="en-US" sz="2618">
                <a:solidFill>
                  <a:srgbClr val="000000"/>
                </a:solidFill>
                <a:latin typeface="Times New Roman MT"/>
                <a:ea typeface="Times New Roman MT"/>
                <a:cs typeface="Times New Roman MT"/>
                <a:sym typeface="Times New Roman MT"/>
              </a:rPr>
              <a:t>ag Page – Interaksi Drag Movement pada Flutter</a:t>
            </a:r>
          </a:p>
          <a:p>
            <a:pPr algn="just">
              <a:lnSpc>
                <a:spcPts val="3666"/>
              </a:lnSpc>
            </a:pPr>
            <a:r>
              <a:rPr lang="en-US" sz="2618" b="true">
                <a:solidFill>
                  <a:srgbClr val="000000"/>
                </a:solidFill>
                <a:latin typeface="Times New Roman MT Bold"/>
                <a:ea typeface="Times New Roman MT Bold"/>
                <a:cs typeface="Times New Roman MT Bold"/>
                <a:sym typeface="Times New Roman MT Bold"/>
              </a:rPr>
              <a:t>Fungsi</a:t>
            </a:r>
            <a:r>
              <a:rPr lang="en-US" sz="2618">
                <a:solidFill>
                  <a:srgbClr val="000000"/>
                </a:solidFill>
                <a:latin typeface="Times New Roman MT"/>
                <a:ea typeface="Times New Roman MT"/>
                <a:cs typeface="Times New Roman MT"/>
                <a:sym typeface="Times New Roman MT"/>
              </a:rPr>
              <a:t>: Menampilkan kotak yang dapat digeser (drag) ke berbagai posisi di dalam layar.</a:t>
            </a:r>
          </a:p>
          <a:p>
            <a:pPr algn="just">
              <a:lnSpc>
                <a:spcPts val="3666"/>
              </a:lnSpc>
            </a:pPr>
            <a:r>
              <a:rPr lang="en-US" sz="2618">
                <a:solidFill>
                  <a:srgbClr val="000000"/>
                </a:solidFill>
                <a:latin typeface="Times New Roman MT"/>
                <a:ea typeface="Times New Roman MT"/>
                <a:cs typeface="Times New Roman MT"/>
                <a:sym typeface="Times New Roman MT"/>
              </a:rPr>
              <a:t>Gesture:</a:t>
            </a:r>
          </a:p>
          <a:p>
            <a:pPr algn="just" marL="565423" indent="-282711" lvl="1">
              <a:lnSpc>
                <a:spcPts val="3666"/>
              </a:lnSpc>
              <a:buFont typeface="Arial"/>
              <a:buChar char="•"/>
            </a:pPr>
            <a:r>
              <a:rPr lang="en-US" sz="2618">
                <a:solidFill>
                  <a:srgbClr val="000000"/>
                </a:solidFill>
                <a:latin typeface="Times New Roman MT"/>
                <a:ea typeface="Times New Roman MT"/>
                <a:cs typeface="Times New Roman MT"/>
                <a:sym typeface="Times New Roman MT"/>
              </a:rPr>
              <a:t>Drag (P</a:t>
            </a:r>
            <a:r>
              <a:rPr lang="en-US" sz="2618">
                <a:solidFill>
                  <a:srgbClr val="000000"/>
                </a:solidFill>
                <a:latin typeface="Times New Roman MT"/>
                <a:ea typeface="Times New Roman MT"/>
                <a:cs typeface="Times New Roman MT"/>
                <a:sym typeface="Times New Roman MT"/>
              </a:rPr>
              <a:t>an Update): Menggeser kotak dengan mengikuti pergerakan jari. Posisi kotak diperbarui secara real-time berdasarkan delta pergerakan pada sumbu x dan y.</a:t>
            </a:r>
          </a:p>
          <a:p>
            <a:pPr algn="just">
              <a:lnSpc>
                <a:spcPts val="3666"/>
              </a:lnSpc>
            </a:pPr>
            <a:r>
              <a:rPr lang="en-US" sz="2618" b="true">
                <a:solidFill>
                  <a:srgbClr val="000000"/>
                </a:solidFill>
                <a:latin typeface="Times New Roman MT Bold"/>
                <a:ea typeface="Times New Roman MT Bold"/>
                <a:cs typeface="Times New Roman MT Bold"/>
                <a:sym typeface="Times New Roman MT Bold"/>
              </a:rPr>
              <a:t>Animasi</a:t>
            </a:r>
            <a:r>
              <a:rPr lang="en-US" sz="2618">
                <a:solidFill>
                  <a:srgbClr val="000000"/>
                </a:solidFill>
                <a:latin typeface="Times New Roman MT"/>
                <a:ea typeface="Times New Roman MT"/>
                <a:cs typeface="Times New Roman MT"/>
                <a:sym typeface="Times New Roman MT"/>
              </a:rPr>
              <a:t>: Menggunakan AnimatedContainer dengan durasi 100ms untuk transisi halus saat kotak berpindah posisi.</a:t>
            </a:r>
          </a:p>
          <a:p>
            <a:pPr algn="just">
              <a:lnSpc>
                <a:spcPts val="3666"/>
              </a:lnSpc>
            </a:pPr>
            <a:r>
              <a:rPr lang="en-US" sz="2618" b="true">
                <a:solidFill>
                  <a:srgbClr val="000000"/>
                </a:solidFill>
                <a:latin typeface="Times New Roman MT Bold"/>
                <a:ea typeface="Times New Roman MT Bold"/>
                <a:cs typeface="Times New Roman MT Bold"/>
                <a:sym typeface="Times New Roman MT Bold"/>
              </a:rPr>
              <a:t>Visual</a:t>
            </a:r>
            <a:r>
              <a:rPr lang="en-US" sz="2618">
                <a:solidFill>
                  <a:srgbClr val="000000"/>
                </a:solidFill>
                <a:latin typeface="Times New Roman MT"/>
                <a:ea typeface="Times New Roman MT"/>
                <a:cs typeface="Times New Roman MT"/>
                <a:sym typeface="Times New Roman MT"/>
              </a:rPr>
              <a:t>: Kotak berwarna oranye dengan sudut melengkung (border radius 20). Kotak ditempatkan menggunakan widget Stack dan Positioned agar dapat diposisikan secara bebas.</a:t>
            </a:r>
          </a:p>
          <a:p>
            <a:pPr algn="just">
              <a:lnSpc>
                <a:spcPts val="3666"/>
              </a:lnSpc>
            </a:pPr>
            <a:r>
              <a:rPr lang="en-US" sz="2618" b="true">
                <a:solidFill>
                  <a:srgbClr val="000000"/>
                </a:solidFill>
                <a:latin typeface="Times New Roman MT Bold"/>
                <a:ea typeface="Times New Roman MT Bold"/>
                <a:cs typeface="Times New Roman MT Bold"/>
                <a:sym typeface="Times New Roman MT Bold"/>
              </a:rPr>
              <a:t>Tujuan</a:t>
            </a:r>
            <a:r>
              <a:rPr lang="en-US" sz="2618">
                <a:solidFill>
                  <a:srgbClr val="000000"/>
                </a:solidFill>
                <a:latin typeface="Times New Roman MT"/>
                <a:ea typeface="Times New Roman MT"/>
                <a:cs typeface="Times New Roman MT"/>
                <a:sym typeface="Times New Roman MT"/>
              </a:rPr>
              <a:t>: Demonstrasi penggunaan GestureDetector dengan callback onPanUpdate untuk menangani gesture drag dan mengubah posisi widget secara dinamis.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041774" y="7910210"/>
            <a:ext cx="5748880" cy="574888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4F4F4"/>
            </a:solidFill>
          </p:spPr>
        </p:sp>
        <p:sp>
          <p:nvSpPr>
            <p:cNvPr name="TextBox 4" id="4"/>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4813074" y="6322014"/>
            <a:ext cx="11152028" cy="3781888"/>
          </a:xfrm>
          <a:prstGeom prst="rect">
            <a:avLst/>
          </a:prstGeom>
        </p:spPr>
        <p:txBody>
          <a:bodyPr anchor="t" rtlCol="false" tIns="0" lIns="0" bIns="0" rIns="0">
            <a:spAutoFit/>
          </a:bodyPr>
          <a:lstStyle/>
          <a:p>
            <a:pPr algn="just">
              <a:lnSpc>
                <a:spcPts val="4200"/>
              </a:lnSpc>
            </a:pPr>
            <a:r>
              <a:rPr lang="en-US" sz="3000">
                <a:solidFill>
                  <a:srgbClr val="000000"/>
                </a:solidFill>
                <a:latin typeface="Times New Roman MT"/>
                <a:ea typeface="Times New Roman MT"/>
                <a:cs typeface="Times New Roman MT"/>
                <a:sym typeface="Times New Roman MT"/>
              </a:rPr>
              <a:t>Gambar menampilkan tampilan sebelum dan setelah gesture drag pada halaman Drag Movement. Sebelum drag dilakukan, kotak berada pada posisi awal di koordinat (100, 100) dengan warna oranye. Saat pengguna menggeser kotak ke posisi yang diinginkan, kotak akan mengikuti pergerakan jari secara real-time. Perubahan posisi terjadi secara halus dengan animasi selama 100 milidetik, sementara warna kotak tetap oranye tanpa mengalami perubahan.</a:t>
            </a:r>
          </a:p>
        </p:txBody>
      </p:sp>
      <p:grpSp>
        <p:nvGrpSpPr>
          <p:cNvPr name="Group 6" id="6"/>
          <p:cNvGrpSpPr/>
          <p:nvPr/>
        </p:nvGrpSpPr>
        <p:grpSpPr>
          <a:xfrm rot="0">
            <a:off x="6916214" y="-2058442"/>
            <a:ext cx="3087142" cy="308714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1C54A9"/>
            </a:solidFill>
          </p:spPr>
        </p:sp>
        <p:sp>
          <p:nvSpPr>
            <p:cNvPr name="TextBox 8" id="8"/>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593829" y="5719037"/>
            <a:ext cx="6586978" cy="5604920"/>
          </a:xfrm>
          <a:custGeom>
            <a:avLst/>
            <a:gdLst/>
            <a:ahLst/>
            <a:cxnLst/>
            <a:rect r="r" b="b" t="t" l="l"/>
            <a:pathLst>
              <a:path h="5604920" w="6586978">
                <a:moveTo>
                  <a:pt x="0" y="0"/>
                </a:moveTo>
                <a:lnTo>
                  <a:pt x="6586979" y="0"/>
                </a:lnTo>
                <a:lnTo>
                  <a:pt x="6586979" y="5604919"/>
                </a:lnTo>
                <a:lnTo>
                  <a:pt x="0" y="56049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1028700" y="1353062"/>
            <a:ext cx="7025947" cy="4145766"/>
            <a:chOff x="0" y="0"/>
            <a:chExt cx="1377475" cy="812800"/>
          </a:xfrm>
        </p:grpSpPr>
        <p:sp>
          <p:nvSpPr>
            <p:cNvPr name="Freeform 11" id="11"/>
            <p:cNvSpPr/>
            <p:nvPr/>
          </p:nvSpPr>
          <p:spPr>
            <a:xfrm flipH="false" flipV="false" rot="0">
              <a:off x="0" y="0"/>
              <a:ext cx="1377475" cy="812800"/>
            </a:xfrm>
            <a:custGeom>
              <a:avLst/>
              <a:gdLst/>
              <a:ahLst/>
              <a:cxnLst/>
              <a:rect r="r" b="b" t="t" l="l"/>
              <a:pathLst>
                <a:path h="812800" w="1377475">
                  <a:moveTo>
                    <a:pt x="25344" y="0"/>
                  </a:moveTo>
                  <a:lnTo>
                    <a:pt x="1352132" y="0"/>
                  </a:lnTo>
                  <a:cubicBezTo>
                    <a:pt x="1358853" y="0"/>
                    <a:pt x="1365299" y="2670"/>
                    <a:pt x="1370052" y="7423"/>
                  </a:cubicBezTo>
                  <a:cubicBezTo>
                    <a:pt x="1374805" y="12176"/>
                    <a:pt x="1377475" y="18622"/>
                    <a:pt x="1377475" y="25344"/>
                  </a:cubicBezTo>
                  <a:lnTo>
                    <a:pt x="1377475" y="787456"/>
                  </a:lnTo>
                  <a:cubicBezTo>
                    <a:pt x="1377475" y="801453"/>
                    <a:pt x="1366129" y="812800"/>
                    <a:pt x="1352132" y="812800"/>
                  </a:cubicBezTo>
                  <a:lnTo>
                    <a:pt x="25344" y="812800"/>
                  </a:lnTo>
                  <a:cubicBezTo>
                    <a:pt x="11347" y="812800"/>
                    <a:pt x="0" y="801453"/>
                    <a:pt x="0" y="787456"/>
                  </a:cubicBezTo>
                  <a:lnTo>
                    <a:pt x="0" y="25344"/>
                  </a:lnTo>
                  <a:cubicBezTo>
                    <a:pt x="0" y="11347"/>
                    <a:pt x="11347" y="0"/>
                    <a:pt x="25344" y="0"/>
                  </a:cubicBezTo>
                  <a:close/>
                </a:path>
              </a:pathLst>
            </a:custGeom>
            <a:blipFill>
              <a:blip r:embed="rId4"/>
              <a:stretch>
                <a:fillRect l="0" t="-2960" r="0" b="-2960"/>
              </a:stretch>
            </a:blipFill>
          </p:spPr>
        </p:sp>
      </p:grpSp>
      <p:grpSp>
        <p:nvGrpSpPr>
          <p:cNvPr name="Group 12" id="12"/>
          <p:cNvGrpSpPr/>
          <p:nvPr/>
        </p:nvGrpSpPr>
        <p:grpSpPr>
          <a:xfrm rot="0">
            <a:off x="10233353" y="1353062"/>
            <a:ext cx="7025947" cy="4145766"/>
            <a:chOff x="0" y="0"/>
            <a:chExt cx="1377475" cy="812800"/>
          </a:xfrm>
        </p:grpSpPr>
        <p:sp>
          <p:nvSpPr>
            <p:cNvPr name="Freeform 13" id="13"/>
            <p:cNvSpPr/>
            <p:nvPr/>
          </p:nvSpPr>
          <p:spPr>
            <a:xfrm flipH="false" flipV="false" rot="0">
              <a:off x="0" y="0"/>
              <a:ext cx="1377475" cy="812800"/>
            </a:xfrm>
            <a:custGeom>
              <a:avLst/>
              <a:gdLst/>
              <a:ahLst/>
              <a:cxnLst/>
              <a:rect r="r" b="b" t="t" l="l"/>
              <a:pathLst>
                <a:path h="812800" w="1377475">
                  <a:moveTo>
                    <a:pt x="25344" y="0"/>
                  </a:moveTo>
                  <a:lnTo>
                    <a:pt x="1352132" y="0"/>
                  </a:lnTo>
                  <a:cubicBezTo>
                    <a:pt x="1358853" y="0"/>
                    <a:pt x="1365299" y="2670"/>
                    <a:pt x="1370052" y="7423"/>
                  </a:cubicBezTo>
                  <a:cubicBezTo>
                    <a:pt x="1374805" y="12176"/>
                    <a:pt x="1377475" y="18622"/>
                    <a:pt x="1377475" y="25344"/>
                  </a:cubicBezTo>
                  <a:lnTo>
                    <a:pt x="1377475" y="787456"/>
                  </a:lnTo>
                  <a:cubicBezTo>
                    <a:pt x="1377475" y="801453"/>
                    <a:pt x="1366129" y="812800"/>
                    <a:pt x="1352132" y="812800"/>
                  </a:cubicBezTo>
                  <a:lnTo>
                    <a:pt x="25344" y="812800"/>
                  </a:lnTo>
                  <a:cubicBezTo>
                    <a:pt x="11347" y="812800"/>
                    <a:pt x="0" y="801453"/>
                    <a:pt x="0" y="787456"/>
                  </a:cubicBezTo>
                  <a:lnTo>
                    <a:pt x="0" y="25344"/>
                  </a:lnTo>
                  <a:cubicBezTo>
                    <a:pt x="0" y="11347"/>
                    <a:pt x="11347" y="0"/>
                    <a:pt x="25344" y="0"/>
                  </a:cubicBezTo>
                  <a:close/>
                </a:path>
              </a:pathLst>
            </a:custGeom>
            <a:blipFill>
              <a:blip r:embed="rId5"/>
              <a:stretch>
                <a:fillRect l="0" t="-2960" r="0" b="-2960"/>
              </a:stretch>
            </a:blipFill>
          </p:spPr>
        </p:sp>
      </p:grpSp>
      <p:grpSp>
        <p:nvGrpSpPr>
          <p:cNvPr name="Group 14" id="14"/>
          <p:cNvGrpSpPr/>
          <p:nvPr/>
        </p:nvGrpSpPr>
        <p:grpSpPr>
          <a:xfrm rot="0">
            <a:off x="8459785" y="3425945"/>
            <a:ext cx="1330869" cy="384574"/>
            <a:chOff x="0" y="0"/>
            <a:chExt cx="2072333" cy="598831"/>
          </a:xfrm>
        </p:grpSpPr>
        <p:sp>
          <p:nvSpPr>
            <p:cNvPr name="Freeform 15" id="15"/>
            <p:cNvSpPr/>
            <p:nvPr/>
          </p:nvSpPr>
          <p:spPr>
            <a:xfrm flipH="false" flipV="false" rot="0">
              <a:off x="0" y="0"/>
              <a:ext cx="2072333" cy="598831"/>
            </a:xfrm>
            <a:custGeom>
              <a:avLst/>
              <a:gdLst/>
              <a:ahLst/>
              <a:cxnLst/>
              <a:rect r="r" b="b" t="t" l="l"/>
              <a:pathLst>
                <a:path h="598831" w="2072333">
                  <a:moveTo>
                    <a:pt x="2072333" y="299415"/>
                  </a:moveTo>
                  <a:lnTo>
                    <a:pt x="1665933" y="0"/>
                  </a:lnTo>
                  <a:lnTo>
                    <a:pt x="1665933" y="203200"/>
                  </a:lnTo>
                  <a:lnTo>
                    <a:pt x="0" y="203200"/>
                  </a:lnTo>
                  <a:lnTo>
                    <a:pt x="0" y="395631"/>
                  </a:lnTo>
                  <a:lnTo>
                    <a:pt x="1665933" y="395631"/>
                  </a:lnTo>
                  <a:lnTo>
                    <a:pt x="1665933" y="598831"/>
                  </a:lnTo>
                  <a:lnTo>
                    <a:pt x="2072333" y="299415"/>
                  </a:lnTo>
                  <a:close/>
                </a:path>
              </a:pathLst>
            </a:custGeom>
            <a:solidFill>
              <a:srgbClr val="1C54A9"/>
            </a:solidFill>
          </p:spPr>
        </p:sp>
        <p:sp>
          <p:nvSpPr>
            <p:cNvPr name="TextBox 16" id="16"/>
            <p:cNvSpPr txBox="true"/>
            <p:nvPr/>
          </p:nvSpPr>
          <p:spPr>
            <a:xfrm>
              <a:off x="0" y="146050"/>
              <a:ext cx="1970733" cy="249581"/>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3933977" y="5540898"/>
            <a:ext cx="1215393" cy="581091"/>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MT"/>
                <a:ea typeface="Times New Roman MT"/>
                <a:cs typeface="Times New Roman MT"/>
                <a:sym typeface="Times New Roman MT"/>
              </a:rPr>
              <a:t>Before</a:t>
            </a:r>
          </a:p>
        </p:txBody>
      </p:sp>
      <p:sp>
        <p:nvSpPr>
          <p:cNvPr name="TextBox 18" id="18"/>
          <p:cNvSpPr txBox="true"/>
          <p:nvPr/>
        </p:nvSpPr>
        <p:spPr>
          <a:xfrm rot="0">
            <a:off x="13138630" y="5540898"/>
            <a:ext cx="1215393" cy="581091"/>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MT"/>
                <a:ea typeface="Times New Roman MT"/>
                <a:cs typeface="Times New Roman MT"/>
                <a:sym typeface="Times New Roman MT"/>
              </a:rPr>
              <a:t>After</a:t>
            </a:r>
          </a:p>
        </p:txBody>
      </p:sp>
      <p:sp>
        <p:nvSpPr>
          <p:cNvPr name="TextBox 19" id="19"/>
          <p:cNvSpPr txBox="true"/>
          <p:nvPr/>
        </p:nvSpPr>
        <p:spPr>
          <a:xfrm rot="0">
            <a:off x="626380" y="460854"/>
            <a:ext cx="6289833" cy="816008"/>
          </a:xfrm>
          <a:prstGeom prst="rect">
            <a:avLst/>
          </a:prstGeom>
        </p:spPr>
        <p:txBody>
          <a:bodyPr anchor="t" rtlCol="false" tIns="0" lIns="0" bIns="0" rIns="0">
            <a:spAutoFit/>
          </a:bodyPr>
          <a:lstStyle/>
          <a:p>
            <a:pPr algn="l">
              <a:lnSpc>
                <a:spcPts val="5500"/>
              </a:lnSpc>
            </a:pPr>
            <a:r>
              <a:rPr lang="en-US" sz="5000" b="true">
                <a:solidFill>
                  <a:srgbClr val="0B2957"/>
                </a:solidFill>
                <a:latin typeface="Times New Roman MT Bold"/>
                <a:ea typeface="Times New Roman MT Bold"/>
                <a:cs typeface="Times New Roman MT Bold"/>
                <a:sym typeface="Times New Roman MT Bold"/>
              </a:rPr>
              <a:t>Gestur Drag Movement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019896" y="-1735495"/>
            <a:ext cx="7687716" cy="6052329"/>
          </a:xfrm>
          <a:custGeom>
            <a:avLst/>
            <a:gdLst/>
            <a:ahLst/>
            <a:cxnLst/>
            <a:rect r="r" b="b" t="t" l="l"/>
            <a:pathLst>
              <a:path h="6052329" w="7687716">
                <a:moveTo>
                  <a:pt x="7687716" y="0"/>
                </a:moveTo>
                <a:lnTo>
                  <a:pt x="0" y="0"/>
                </a:lnTo>
                <a:lnTo>
                  <a:pt x="0" y="6052329"/>
                </a:lnTo>
                <a:lnTo>
                  <a:pt x="7687716" y="6052329"/>
                </a:lnTo>
                <a:lnTo>
                  <a:pt x="7687716"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140059" y="1028700"/>
            <a:ext cx="8168759" cy="816875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4F4F4"/>
            </a:solidFill>
          </p:spPr>
        </p:sp>
        <p:sp>
          <p:nvSpPr>
            <p:cNvPr name="TextBox 5" id="5"/>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8458554" y="8743429"/>
            <a:ext cx="3087142" cy="308714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1C54A9"/>
            </a:solidFill>
          </p:spPr>
        </p:sp>
        <p:sp>
          <p:nvSpPr>
            <p:cNvPr name="TextBox 8" id="8"/>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1226936" y="1055408"/>
            <a:ext cx="6340191" cy="8312643"/>
            <a:chOff x="0" y="0"/>
            <a:chExt cx="812800" cy="1065665"/>
          </a:xfrm>
        </p:grpSpPr>
        <p:sp>
          <p:nvSpPr>
            <p:cNvPr name="Freeform 10" id="10"/>
            <p:cNvSpPr/>
            <p:nvPr/>
          </p:nvSpPr>
          <p:spPr>
            <a:xfrm flipH="false" flipV="false" rot="0">
              <a:off x="0" y="0"/>
              <a:ext cx="812800" cy="1065665"/>
            </a:xfrm>
            <a:custGeom>
              <a:avLst/>
              <a:gdLst/>
              <a:ahLst/>
              <a:cxnLst/>
              <a:rect r="r" b="b" t="t" l="l"/>
              <a:pathLst>
                <a:path h="1065665" w="812800">
                  <a:moveTo>
                    <a:pt x="28085" y="0"/>
                  </a:moveTo>
                  <a:lnTo>
                    <a:pt x="784715" y="0"/>
                  </a:lnTo>
                  <a:cubicBezTo>
                    <a:pt x="800226" y="0"/>
                    <a:pt x="812800" y="12574"/>
                    <a:pt x="812800" y="28085"/>
                  </a:cubicBezTo>
                  <a:lnTo>
                    <a:pt x="812800" y="1037580"/>
                  </a:lnTo>
                  <a:cubicBezTo>
                    <a:pt x="812800" y="1053091"/>
                    <a:pt x="800226" y="1065665"/>
                    <a:pt x="784715" y="1065665"/>
                  </a:cubicBezTo>
                  <a:lnTo>
                    <a:pt x="28085" y="1065665"/>
                  </a:lnTo>
                  <a:cubicBezTo>
                    <a:pt x="12574" y="1065665"/>
                    <a:pt x="0" y="1053091"/>
                    <a:pt x="0" y="1037580"/>
                  </a:cubicBezTo>
                  <a:lnTo>
                    <a:pt x="0" y="28085"/>
                  </a:lnTo>
                  <a:cubicBezTo>
                    <a:pt x="0" y="12574"/>
                    <a:pt x="12574" y="0"/>
                    <a:pt x="28085" y="0"/>
                  </a:cubicBezTo>
                  <a:close/>
                </a:path>
              </a:pathLst>
            </a:custGeom>
            <a:blipFill>
              <a:blip r:embed="rId4"/>
              <a:stretch>
                <a:fillRect l="-3643" t="-6481" r="-4790" b="-88115"/>
              </a:stretch>
            </a:blipFill>
          </p:spPr>
        </p:sp>
      </p:grpSp>
      <p:sp>
        <p:nvSpPr>
          <p:cNvPr name="TextBox 11" id="11"/>
          <p:cNvSpPr txBox="true"/>
          <p:nvPr/>
        </p:nvSpPr>
        <p:spPr>
          <a:xfrm rot="0">
            <a:off x="1028700" y="1843475"/>
            <a:ext cx="9174431" cy="7353984"/>
          </a:xfrm>
          <a:prstGeom prst="rect">
            <a:avLst/>
          </a:prstGeom>
        </p:spPr>
        <p:txBody>
          <a:bodyPr anchor="t" rtlCol="false" tIns="0" lIns="0" bIns="0" rIns="0">
            <a:spAutoFit/>
          </a:bodyPr>
          <a:lstStyle/>
          <a:p>
            <a:pPr algn="just">
              <a:lnSpc>
                <a:spcPts val="3666"/>
              </a:lnSpc>
            </a:pPr>
            <a:r>
              <a:rPr lang="en-US" sz="2618">
                <a:solidFill>
                  <a:srgbClr val="000000"/>
                </a:solidFill>
                <a:latin typeface="Times New Roman MT"/>
                <a:ea typeface="Times New Roman MT"/>
                <a:cs typeface="Times New Roman MT"/>
                <a:sym typeface="Times New Roman MT"/>
              </a:rPr>
              <a:t>Sc</a:t>
            </a:r>
            <a:r>
              <a:rPr lang="en-US" sz="2618">
                <a:solidFill>
                  <a:srgbClr val="000000"/>
                </a:solidFill>
                <a:latin typeface="Times New Roman MT"/>
                <a:ea typeface="Times New Roman MT"/>
                <a:cs typeface="Times New Roman MT"/>
                <a:sym typeface="Times New Roman MT"/>
              </a:rPr>
              <a:t>ale Page – Interaksi Scale &amp; Zoom pada Flutter</a:t>
            </a:r>
          </a:p>
          <a:p>
            <a:pPr algn="just">
              <a:lnSpc>
                <a:spcPts val="3666"/>
              </a:lnSpc>
            </a:pPr>
            <a:r>
              <a:rPr lang="en-US" sz="2618" b="true">
                <a:solidFill>
                  <a:srgbClr val="000000"/>
                </a:solidFill>
                <a:latin typeface="Times New Roman MT Bold"/>
                <a:ea typeface="Times New Roman MT Bold"/>
                <a:cs typeface="Times New Roman MT Bold"/>
                <a:sym typeface="Times New Roman MT Bold"/>
              </a:rPr>
              <a:t>Fungsi</a:t>
            </a:r>
            <a:r>
              <a:rPr lang="en-US" sz="2618">
                <a:solidFill>
                  <a:srgbClr val="000000"/>
                </a:solidFill>
                <a:latin typeface="Times New Roman MT"/>
                <a:ea typeface="Times New Roman MT"/>
                <a:cs typeface="Times New Roman MT"/>
                <a:sym typeface="Times New Roman MT"/>
              </a:rPr>
              <a:t>: Menampilkan kotak yang dapat di-zoom dan digeser.</a:t>
            </a:r>
          </a:p>
          <a:p>
            <a:pPr algn="just">
              <a:lnSpc>
                <a:spcPts val="3666"/>
              </a:lnSpc>
            </a:pPr>
            <a:r>
              <a:rPr lang="en-US" sz="2618" b="true">
                <a:solidFill>
                  <a:srgbClr val="000000"/>
                </a:solidFill>
                <a:latin typeface="Times New Roman MT Bold"/>
                <a:ea typeface="Times New Roman MT Bold"/>
                <a:cs typeface="Times New Roman MT Bold"/>
                <a:sym typeface="Times New Roman MT Bold"/>
              </a:rPr>
              <a:t>Gestures</a:t>
            </a:r>
            <a:r>
              <a:rPr lang="en-US" sz="2618">
                <a:solidFill>
                  <a:srgbClr val="000000"/>
                </a:solidFill>
                <a:latin typeface="Times New Roman MT"/>
                <a:ea typeface="Times New Roman MT"/>
                <a:cs typeface="Times New Roman MT"/>
                <a:sym typeface="Times New Roman MT"/>
              </a:rPr>
              <a:t>:</a:t>
            </a:r>
          </a:p>
          <a:p>
            <a:pPr algn="just" marL="565423" indent="-282711" lvl="1">
              <a:lnSpc>
                <a:spcPts val="3666"/>
              </a:lnSpc>
              <a:buFont typeface="Arial"/>
              <a:buChar char="•"/>
            </a:pPr>
            <a:r>
              <a:rPr lang="en-US" sz="2618">
                <a:solidFill>
                  <a:srgbClr val="000000"/>
                </a:solidFill>
                <a:latin typeface="Times New Roman MT"/>
                <a:ea typeface="Times New Roman MT"/>
                <a:cs typeface="Times New Roman MT"/>
                <a:sym typeface="Times New Roman MT"/>
              </a:rPr>
              <a:t>Pi</a:t>
            </a:r>
            <a:r>
              <a:rPr lang="en-US" sz="2618">
                <a:solidFill>
                  <a:srgbClr val="000000"/>
                </a:solidFill>
                <a:latin typeface="Times New Roman MT"/>
                <a:ea typeface="Times New Roman MT"/>
                <a:cs typeface="Times New Roman MT"/>
                <a:sym typeface="Times New Roman MT"/>
              </a:rPr>
              <a:t>nch Zoom: Memperbesar/memperkecil kotak dengan skala 0.5x - 3.0x.</a:t>
            </a:r>
          </a:p>
          <a:p>
            <a:pPr algn="just" marL="565423" indent="-282711" lvl="1">
              <a:lnSpc>
                <a:spcPts val="3666"/>
              </a:lnSpc>
              <a:buFont typeface="Arial"/>
              <a:buChar char="•"/>
            </a:pPr>
            <a:r>
              <a:rPr lang="en-US" sz="2618">
                <a:solidFill>
                  <a:srgbClr val="000000"/>
                </a:solidFill>
                <a:latin typeface="Times New Roman MT"/>
                <a:ea typeface="Times New Roman MT"/>
                <a:cs typeface="Times New Roman MT"/>
                <a:sym typeface="Times New Roman MT"/>
              </a:rPr>
              <a:t>Scroll Zoom: Zoom menggunakan scroll mouse atau touchpad.</a:t>
            </a:r>
          </a:p>
          <a:p>
            <a:pPr algn="just" marL="565423" indent="-282711" lvl="1">
              <a:lnSpc>
                <a:spcPts val="3666"/>
              </a:lnSpc>
              <a:buFont typeface="Arial"/>
              <a:buChar char="•"/>
            </a:pPr>
            <a:r>
              <a:rPr lang="en-US" sz="2618">
                <a:solidFill>
                  <a:srgbClr val="000000"/>
                </a:solidFill>
                <a:latin typeface="Times New Roman MT"/>
                <a:ea typeface="Times New Roman MT"/>
                <a:cs typeface="Times New Roman MT"/>
                <a:sym typeface="Times New Roman MT"/>
              </a:rPr>
              <a:t>Drag: Menggeser posisi kotak setelah di-zoom.</a:t>
            </a:r>
          </a:p>
          <a:p>
            <a:pPr algn="just" marL="565423" indent="-282711" lvl="1">
              <a:lnSpc>
                <a:spcPts val="3666"/>
              </a:lnSpc>
              <a:buFont typeface="Arial"/>
              <a:buChar char="•"/>
            </a:pPr>
            <a:r>
              <a:rPr lang="en-US" sz="2618">
                <a:solidFill>
                  <a:srgbClr val="000000"/>
                </a:solidFill>
                <a:latin typeface="Times New Roman MT"/>
                <a:ea typeface="Times New Roman MT"/>
                <a:cs typeface="Times New Roman MT"/>
                <a:sym typeface="Times New Roman MT"/>
              </a:rPr>
              <a:t>Reset: Tombol refresh untuk mengembalikan skala dan posisi awal.</a:t>
            </a:r>
          </a:p>
          <a:p>
            <a:pPr algn="just">
              <a:lnSpc>
                <a:spcPts val="3666"/>
              </a:lnSpc>
            </a:pPr>
            <a:r>
              <a:rPr lang="en-US" sz="2618" b="true">
                <a:solidFill>
                  <a:srgbClr val="000000"/>
                </a:solidFill>
                <a:latin typeface="Times New Roman MT Bold"/>
                <a:ea typeface="Times New Roman MT Bold"/>
                <a:cs typeface="Times New Roman MT Bold"/>
                <a:sym typeface="Times New Roman MT Bold"/>
              </a:rPr>
              <a:t>Animasi</a:t>
            </a:r>
            <a:r>
              <a:rPr lang="en-US" sz="2618">
                <a:solidFill>
                  <a:srgbClr val="000000"/>
                </a:solidFill>
                <a:latin typeface="Times New Roman MT"/>
                <a:ea typeface="Times New Roman MT"/>
                <a:cs typeface="Times New Roman MT"/>
                <a:sym typeface="Times New Roman MT"/>
              </a:rPr>
              <a:t>: Durasi 200ms dengan kurva easeOut untuk transisi halus.</a:t>
            </a:r>
          </a:p>
          <a:p>
            <a:pPr algn="just">
              <a:lnSpc>
                <a:spcPts val="3666"/>
              </a:lnSpc>
            </a:pPr>
            <a:r>
              <a:rPr lang="en-US" sz="2618" b="true">
                <a:solidFill>
                  <a:srgbClr val="000000"/>
                </a:solidFill>
                <a:latin typeface="Times New Roman MT Bold"/>
                <a:ea typeface="Times New Roman MT Bold"/>
                <a:cs typeface="Times New Roman MT Bold"/>
                <a:sym typeface="Times New Roman MT Bold"/>
              </a:rPr>
              <a:t>Visual</a:t>
            </a:r>
            <a:r>
              <a:rPr lang="en-US" sz="2618">
                <a:solidFill>
                  <a:srgbClr val="000000"/>
                </a:solidFill>
                <a:latin typeface="Times New Roman MT"/>
                <a:ea typeface="Times New Roman MT"/>
                <a:cs typeface="Times New Roman MT"/>
                <a:sym typeface="Times New Roman MT"/>
              </a:rPr>
              <a:t>: Kotak gradien merah ke pink, sudut melengkung, dengan teks "Zoom Me!".</a:t>
            </a:r>
          </a:p>
          <a:p>
            <a:pPr algn="just">
              <a:lnSpc>
                <a:spcPts val="3666"/>
              </a:lnSpc>
            </a:pPr>
            <a:r>
              <a:rPr lang="en-US" sz="2618" b="true">
                <a:solidFill>
                  <a:srgbClr val="000000"/>
                </a:solidFill>
                <a:latin typeface="Times New Roman MT Bold"/>
                <a:ea typeface="Times New Roman MT Bold"/>
                <a:cs typeface="Times New Roman MT Bold"/>
                <a:sym typeface="Times New Roman MT Bold"/>
              </a:rPr>
              <a:t>Tujuan</a:t>
            </a:r>
            <a:r>
              <a:rPr lang="en-US" sz="2618">
                <a:solidFill>
                  <a:srgbClr val="000000"/>
                </a:solidFill>
                <a:latin typeface="Times New Roman MT"/>
                <a:ea typeface="Times New Roman MT"/>
                <a:cs typeface="Times New Roman MT"/>
                <a:sym typeface="Times New Roman MT"/>
              </a:rPr>
              <a:t>: Demonstrasi gesture scale, scroll zoom, dan drag pada Flutter.</a:t>
            </a:r>
          </a:p>
        </p:txBody>
      </p:sp>
      <p:sp>
        <p:nvSpPr>
          <p:cNvPr name="TextBox 12" id="12"/>
          <p:cNvSpPr txBox="true"/>
          <p:nvPr/>
        </p:nvSpPr>
        <p:spPr>
          <a:xfrm rot="0">
            <a:off x="1028700" y="998258"/>
            <a:ext cx="9425266" cy="816008"/>
          </a:xfrm>
          <a:prstGeom prst="rect">
            <a:avLst/>
          </a:prstGeom>
        </p:spPr>
        <p:txBody>
          <a:bodyPr anchor="t" rtlCol="false" tIns="0" lIns="0" bIns="0" rIns="0">
            <a:spAutoFit/>
          </a:bodyPr>
          <a:lstStyle/>
          <a:p>
            <a:pPr algn="l">
              <a:lnSpc>
                <a:spcPts val="5500"/>
              </a:lnSpc>
            </a:pPr>
            <a:r>
              <a:rPr lang="en-US" sz="5000" b="true">
                <a:solidFill>
                  <a:srgbClr val="0B2957"/>
                </a:solidFill>
                <a:latin typeface="Times New Roman MT Bold"/>
                <a:ea typeface="Times New Roman MT Bold"/>
                <a:cs typeface="Times New Roman MT Bold"/>
                <a:sym typeface="Times New Roman MT Bold"/>
              </a:rPr>
              <a:t>Program Implementasi Scale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041774" y="7910210"/>
            <a:ext cx="5748880" cy="574888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4F4F4"/>
            </a:solidFill>
          </p:spPr>
        </p:sp>
        <p:sp>
          <p:nvSpPr>
            <p:cNvPr name="TextBox 4" id="4"/>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9246810" y="2072277"/>
            <a:ext cx="8012490" cy="6449219"/>
          </a:xfrm>
          <a:prstGeom prst="rect">
            <a:avLst/>
          </a:prstGeom>
        </p:spPr>
        <p:txBody>
          <a:bodyPr anchor="t" rtlCol="false" tIns="0" lIns="0" bIns="0" rIns="0">
            <a:spAutoFit/>
          </a:bodyPr>
          <a:lstStyle/>
          <a:p>
            <a:pPr algn="just">
              <a:lnSpc>
                <a:spcPts val="4200"/>
              </a:lnSpc>
            </a:pPr>
            <a:r>
              <a:rPr lang="en-US" sz="3000">
                <a:solidFill>
                  <a:srgbClr val="000000"/>
                </a:solidFill>
                <a:latin typeface="Times New Roman MT"/>
                <a:ea typeface="Times New Roman MT"/>
                <a:cs typeface="Times New Roman MT"/>
                <a:sym typeface="Times New Roman MT"/>
              </a:rPr>
              <a:t>Gambar menampilkan tampilan sebelum dan setelah gesture zoom pada halaman Scale &amp; Zoom. Sebelum zoom dilakukan, kotak berada pada ukuran normal dengan skala 1.0x. Saat pengguna melakukan pinch zoom atau scroll menggunakan mouse, kotak membesar dengan skala hingga 3.0x. Kotak juga dapat digeser untuk melihat area yang diinginkan. Perubahan skala terjadi secara halus dengan animasi selama 200 milidetik. Tombol reset tersedia untuk mengembalikan kotak ke ukuran dan posisi semula.</a:t>
            </a:r>
          </a:p>
        </p:txBody>
      </p:sp>
      <p:grpSp>
        <p:nvGrpSpPr>
          <p:cNvPr name="Group 6" id="6"/>
          <p:cNvGrpSpPr/>
          <p:nvPr/>
        </p:nvGrpSpPr>
        <p:grpSpPr>
          <a:xfrm rot="0">
            <a:off x="6916214" y="-2058442"/>
            <a:ext cx="3087142" cy="308714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1C54A9"/>
            </a:solidFill>
          </p:spPr>
        </p:sp>
        <p:sp>
          <p:nvSpPr>
            <p:cNvPr name="TextBox 8" id="8"/>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373499" y="6258645"/>
            <a:ext cx="6586978" cy="5604920"/>
          </a:xfrm>
          <a:custGeom>
            <a:avLst/>
            <a:gdLst/>
            <a:ahLst/>
            <a:cxnLst/>
            <a:rect r="r" b="b" t="t" l="l"/>
            <a:pathLst>
              <a:path h="5604920" w="6586978">
                <a:moveTo>
                  <a:pt x="0" y="0"/>
                </a:moveTo>
                <a:lnTo>
                  <a:pt x="6586978" y="0"/>
                </a:lnTo>
                <a:lnTo>
                  <a:pt x="6586978" y="5604919"/>
                </a:lnTo>
                <a:lnTo>
                  <a:pt x="0" y="56049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3617410" y="4781661"/>
            <a:ext cx="1596069" cy="461207"/>
            <a:chOff x="0" y="0"/>
            <a:chExt cx="2072333" cy="598831"/>
          </a:xfrm>
        </p:grpSpPr>
        <p:sp>
          <p:nvSpPr>
            <p:cNvPr name="Freeform 11" id="11"/>
            <p:cNvSpPr/>
            <p:nvPr/>
          </p:nvSpPr>
          <p:spPr>
            <a:xfrm flipH="false" flipV="false" rot="0">
              <a:off x="0" y="0"/>
              <a:ext cx="2072333" cy="598831"/>
            </a:xfrm>
            <a:custGeom>
              <a:avLst/>
              <a:gdLst/>
              <a:ahLst/>
              <a:cxnLst/>
              <a:rect r="r" b="b" t="t" l="l"/>
              <a:pathLst>
                <a:path h="598831" w="2072333">
                  <a:moveTo>
                    <a:pt x="2072333" y="299415"/>
                  </a:moveTo>
                  <a:lnTo>
                    <a:pt x="1665933" y="0"/>
                  </a:lnTo>
                  <a:lnTo>
                    <a:pt x="1665933" y="203200"/>
                  </a:lnTo>
                  <a:lnTo>
                    <a:pt x="0" y="203200"/>
                  </a:lnTo>
                  <a:lnTo>
                    <a:pt x="0" y="395631"/>
                  </a:lnTo>
                  <a:lnTo>
                    <a:pt x="1665933" y="395631"/>
                  </a:lnTo>
                  <a:lnTo>
                    <a:pt x="1665933" y="598831"/>
                  </a:lnTo>
                  <a:lnTo>
                    <a:pt x="2072333" y="299415"/>
                  </a:lnTo>
                  <a:close/>
                </a:path>
              </a:pathLst>
            </a:custGeom>
            <a:solidFill>
              <a:srgbClr val="1C54A9"/>
            </a:solidFill>
          </p:spPr>
        </p:sp>
        <p:sp>
          <p:nvSpPr>
            <p:cNvPr name="TextBox 12" id="12"/>
            <p:cNvSpPr txBox="true"/>
            <p:nvPr/>
          </p:nvSpPr>
          <p:spPr>
            <a:xfrm>
              <a:off x="0" y="146050"/>
              <a:ext cx="1970733" cy="249581"/>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5759935" y="2715751"/>
            <a:ext cx="2186302" cy="4383563"/>
          </a:xfrm>
          <a:custGeom>
            <a:avLst/>
            <a:gdLst/>
            <a:ahLst/>
            <a:cxnLst/>
            <a:rect r="r" b="b" t="t" l="l"/>
            <a:pathLst>
              <a:path h="4383563" w="2186302">
                <a:moveTo>
                  <a:pt x="0" y="0"/>
                </a:moveTo>
                <a:lnTo>
                  <a:pt x="2186302" y="0"/>
                </a:lnTo>
                <a:lnTo>
                  <a:pt x="2186302" y="4383563"/>
                </a:lnTo>
                <a:lnTo>
                  <a:pt x="0" y="4383563"/>
                </a:lnTo>
                <a:lnTo>
                  <a:pt x="0" y="0"/>
                </a:lnTo>
                <a:close/>
              </a:path>
            </a:pathLst>
          </a:custGeom>
          <a:blipFill>
            <a:blip r:embed="rId4"/>
            <a:stretch>
              <a:fillRect l="0" t="0" r="0" b="0"/>
            </a:stretch>
          </a:blipFill>
        </p:spPr>
      </p:sp>
      <p:sp>
        <p:nvSpPr>
          <p:cNvPr name="Freeform 14" id="14"/>
          <p:cNvSpPr/>
          <p:nvPr/>
        </p:nvSpPr>
        <p:spPr>
          <a:xfrm flipH="false" flipV="false" rot="0">
            <a:off x="1028700" y="2715751"/>
            <a:ext cx="2251037" cy="4383563"/>
          </a:xfrm>
          <a:custGeom>
            <a:avLst/>
            <a:gdLst/>
            <a:ahLst/>
            <a:cxnLst/>
            <a:rect r="r" b="b" t="t" l="l"/>
            <a:pathLst>
              <a:path h="4383563" w="2251037">
                <a:moveTo>
                  <a:pt x="0" y="0"/>
                </a:moveTo>
                <a:lnTo>
                  <a:pt x="2251037" y="0"/>
                </a:lnTo>
                <a:lnTo>
                  <a:pt x="2251037" y="4383563"/>
                </a:lnTo>
                <a:lnTo>
                  <a:pt x="0" y="4383563"/>
                </a:lnTo>
                <a:lnTo>
                  <a:pt x="0" y="0"/>
                </a:lnTo>
                <a:close/>
              </a:path>
            </a:pathLst>
          </a:custGeom>
          <a:blipFill>
            <a:blip r:embed="rId5"/>
            <a:stretch>
              <a:fillRect l="0" t="0" r="0" b="-2703"/>
            </a:stretch>
          </a:blipFill>
        </p:spPr>
      </p:sp>
      <p:sp>
        <p:nvSpPr>
          <p:cNvPr name="TextBox 15" id="15"/>
          <p:cNvSpPr txBox="true"/>
          <p:nvPr/>
        </p:nvSpPr>
        <p:spPr>
          <a:xfrm rot="0">
            <a:off x="1425427" y="7218950"/>
            <a:ext cx="1457583" cy="691260"/>
          </a:xfrm>
          <a:prstGeom prst="rect">
            <a:avLst/>
          </a:prstGeom>
        </p:spPr>
        <p:txBody>
          <a:bodyPr anchor="t" rtlCol="false" tIns="0" lIns="0" bIns="0" rIns="0">
            <a:spAutoFit/>
          </a:bodyPr>
          <a:lstStyle/>
          <a:p>
            <a:pPr algn="ctr">
              <a:lnSpc>
                <a:spcPts val="5036"/>
              </a:lnSpc>
            </a:pPr>
            <a:r>
              <a:rPr lang="en-US" sz="3597">
                <a:solidFill>
                  <a:srgbClr val="000000"/>
                </a:solidFill>
                <a:latin typeface="Times New Roman MT"/>
                <a:ea typeface="Times New Roman MT"/>
                <a:cs typeface="Times New Roman MT"/>
                <a:sym typeface="Times New Roman MT"/>
              </a:rPr>
              <a:t>Before</a:t>
            </a:r>
          </a:p>
        </p:txBody>
      </p:sp>
      <p:sp>
        <p:nvSpPr>
          <p:cNvPr name="TextBox 16" id="16"/>
          <p:cNvSpPr txBox="true"/>
          <p:nvPr/>
        </p:nvSpPr>
        <p:spPr>
          <a:xfrm rot="0">
            <a:off x="6124295" y="7218950"/>
            <a:ext cx="1457583" cy="691260"/>
          </a:xfrm>
          <a:prstGeom prst="rect">
            <a:avLst/>
          </a:prstGeom>
        </p:spPr>
        <p:txBody>
          <a:bodyPr anchor="t" rtlCol="false" tIns="0" lIns="0" bIns="0" rIns="0">
            <a:spAutoFit/>
          </a:bodyPr>
          <a:lstStyle/>
          <a:p>
            <a:pPr algn="ctr">
              <a:lnSpc>
                <a:spcPts val="5036"/>
              </a:lnSpc>
            </a:pPr>
            <a:r>
              <a:rPr lang="en-US" sz="3597">
                <a:solidFill>
                  <a:srgbClr val="000000"/>
                </a:solidFill>
                <a:latin typeface="Times New Roman MT"/>
                <a:ea typeface="Times New Roman MT"/>
                <a:cs typeface="Times New Roman MT"/>
                <a:sym typeface="Times New Roman MT"/>
              </a:rPr>
              <a:t>After</a:t>
            </a:r>
          </a:p>
        </p:txBody>
      </p:sp>
      <p:sp>
        <p:nvSpPr>
          <p:cNvPr name="TextBox 17" id="17"/>
          <p:cNvSpPr txBox="true"/>
          <p:nvPr/>
        </p:nvSpPr>
        <p:spPr>
          <a:xfrm rot="0">
            <a:off x="626380" y="460854"/>
            <a:ext cx="6289833" cy="816008"/>
          </a:xfrm>
          <a:prstGeom prst="rect">
            <a:avLst/>
          </a:prstGeom>
        </p:spPr>
        <p:txBody>
          <a:bodyPr anchor="t" rtlCol="false" tIns="0" lIns="0" bIns="0" rIns="0">
            <a:spAutoFit/>
          </a:bodyPr>
          <a:lstStyle/>
          <a:p>
            <a:pPr algn="l">
              <a:lnSpc>
                <a:spcPts val="5500"/>
              </a:lnSpc>
            </a:pPr>
            <a:r>
              <a:rPr lang="en-US" sz="5000" b="true">
                <a:solidFill>
                  <a:srgbClr val="0B2957"/>
                </a:solidFill>
                <a:latin typeface="Times New Roman MT Bold"/>
                <a:ea typeface="Times New Roman MT Bold"/>
                <a:cs typeface="Times New Roman MT Bold"/>
                <a:sym typeface="Times New Roman MT Bold"/>
              </a:rPr>
              <a:t>Gestur Scale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019896" y="-1735495"/>
            <a:ext cx="7687716" cy="6052329"/>
          </a:xfrm>
          <a:custGeom>
            <a:avLst/>
            <a:gdLst/>
            <a:ahLst/>
            <a:cxnLst/>
            <a:rect r="r" b="b" t="t" l="l"/>
            <a:pathLst>
              <a:path h="6052329" w="7687716">
                <a:moveTo>
                  <a:pt x="7687716" y="0"/>
                </a:moveTo>
                <a:lnTo>
                  <a:pt x="0" y="0"/>
                </a:lnTo>
                <a:lnTo>
                  <a:pt x="0" y="6052329"/>
                </a:lnTo>
                <a:lnTo>
                  <a:pt x="7687716" y="6052329"/>
                </a:lnTo>
                <a:lnTo>
                  <a:pt x="7687716"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140059" y="1028700"/>
            <a:ext cx="8168759" cy="816875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4F4F4"/>
            </a:solidFill>
          </p:spPr>
        </p:sp>
        <p:sp>
          <p:nvSpPr>
            <p:cNvPr name="TextBox 5" id="5"/>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8458554" y="8743429"/>
            <a:ext cx="3087142" cy="308714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1C54A9"/>
            </a:solidFill>
          </p:spPr>
        </p:sp>
        <p:sp>
          <p:nvSpPr>
            <p:cNvPr name="TextBox 8" id="8"/>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1226936" y="1055408"/>
            <a:ext cx="6340191" cy="8312643"/>
            <a:chOff x="0" y="0"/>
            <a:chExt cx="812800" cy="1065665"/>
          </a:xfrm>
        </p:grpSpPr>
        <p:sp>
          <p:nvSpPr>
            <p:cNvPr name="Freeform 10" id="10"/>
            <p:cNvSpPr/>
            <p:nvPr/>
          </p:nvSpPr>
          <p:spPr>
            <a:xfrm flipH="false" flipV="false" rot="0">
              <a:off x="0" y="0"/>
              <a:ext cx="812800" cy="1065665"/>
            </a:xfrm>
            <a:custGeom>
              <a:avLst/>
              <a:gdLst/>
              <a:ahLst/>
              <a:cxnLst/>
              <a:rect r="r" b="b" t="t" l="l"/>
              <a:pathLst>
                <a:path h="1065665" w="812800">
                  <a:moveTo>
                    <a:pt x="28085" y="0"/>
                  </a:moveTo>
                  <a:lnTo>
                    <a:pt x="784715" y="0"/>
                  </a:lnTo>
                  <a:cubicBezTo>
                    <a:pt x="800226" y="0"/>
                    <a:pt x="812800" y="12574"/>
                    <a:pt x="812800" y="28085"/>
                  </a:cubicBezTo>
                  <a:lnTo>
                    <a:pt x="812800" y="1037580"/>
                  </a:lnTo>
                  <a:cubicBezTo>
                    <a:pt x="812800" y="1053091"/>
                    <a:pt x="800226" y="1065665"/>
                    <a:pt x="784715" y="1065665"/>
                  </a:cubicBezTo>
                  <a:lnTo>
                    <a:pt x="28085" y="1065665"/>
                  </a:lnTo>
                  <a:cubicBezTo>
                    <a:pt x="12574" y="1065665"/>
                    <a:pt x="0" y="1053091"/>
                    <a:pt x="0" y="1037580"/>
                  </a:cubicBezTo>
                  <a:lnTo>
                    <a:pt x="0" y="28085"/>
                  </a:lnTo>
                  <a:cubicBezTo>
                    <a:pt x="0" y="12574"/>
                    <a:pt x="12574" y="0"/>
                    <a:pt x="28085" y="0"/>
                  </a:cubicBezTo>
                  <a:close/>
                </a:path>
              </a:pathLst>
            </a:custGeom>
            <a:blipFill>
              <a:blip r:embed="rId4"/>
              <a:stretch>
                <a:fillRect l="-4149" t="-32551" r="-4979" b="-39955"/>
              </a:stretch>
            </a:blipFill>
          </p:spPr>
        </p:sp>
      </p:grpSp>
      <p:sp>
        <p:nvSpPr>
          <p:cNvPr name="TextBox 11" id="11"/>
          <p:cNvSpPr txBox="true"/>
          <p:nvPr/>
        </p:nvSpPr>
        <p:spPr>
          <a:xfrm rot="0">
            <a:off x="1154117" y="2268417"/>
            <a:ext cx="9174431" cy="6475012"/>
          </a:xfrm>
          <a:prstGeom prst="rect">
            <a:avLst/>
          </a:prstGeom>
        </p:spPr>
        <p:txBody>
          <a:bodyPr anchor="t" rtlCol="false" tIns="0" lIns="0" bIns="0" rIns="0">
            <a:spAutoFit/>
          </a:bodyPr>
          <a:lstStyle/>
          <a:p>
            <a:pPr algn="just">
              <a:lnSpc>
                <a:spcPts val="3666"/>
              </a:lnSpc>
            </a:pPr>
            <a:r>
              <a:rPr lang="en-US" sz="2618">
                <a:solidFill>
                  <a:srgbClr val="000000"/>
                </a:solidFill>
                <a:latin typeface="Times New Roman MT"/>
                <a:ea typeface="Times New Roman MT"/>
                <a:cs typeface="Times New Roman MT"/>
                <a:sym typeface="Times New Roman MT"/>
              </a:rPr>
              <a:t>Gesture</a:t>
            </a:r>
            <a:r>
              <a:rPr lang="en-US" sz="2618">
                <a:solidFill>
                  <a:srgbClr val="000000"/>
                </a:solidFill>
                <a:latin typeface="Times New Roman MT"/>
                <a:ea typeface="Times New Roman MT"/>
                <a:cs typeface="Times New Roman MT"/>
                <a:sym typeface="Times New Roman MT"/>
              </a:rPr>
              <a:t> Playground – Kombinasi Gesture pada Flutter</a:t>
            </a:r>
          </a:p>
          <a:p>
            <a:pPr algn="just">
              <a:lnSpc>
                <a:spcPts val="3666"/>
              </a:lnSpc>
            </a:pPr>
            <a:r>
              <a:rPr lang="en-US" sz="2618" b="true">
                <a:solidFill>
                  <a:srgbClr val="000000"/>
                </a:solidFill>
                <a:latin typeface="Times New Roman MT Bold"/>
                <a:ea typeface="Times New Roman MT Bold"/>
                <a:cs typeface="Times New Roman MT Bold"/>
                <a:sym typeface="Times New Roman MT Bold"/>
              </a:rPr>
              <a:t>Fungsi</a:t>
            </a:r>
            <a:r>
              <a:rPr lang="en-US" sz="2618">
                <a:solidFill>
                  <a:srgbClr val="000000"/>
                </a:solidFill>
                <a:latin typeface="Times New Roman MT"/>
                <a:ea typeface="Times New Roman MT"/>
                <a:cs typeface="Times New Roman MT"/>
                <a:sym typeface="Times New Roman MT"/>
              </a:rPr>
              <a:t>: Menampilkan kotak dengan berbagai gesture dalam satu halaman.</a:t>
            </a:r>
          </a:p>
          <a:p>
            <a:pPr algn="just">
              <a:lnSpc>
                <a:spcPts val="3666"/>
              </a:lnSpc>
            </a:pPr>
            <a:r>
              <a:rPr lang="en-US" sz="2618" b="true">
                <a:solidFill>
                  <a:srgbClr val="000000"/>
                </a:solidFill>
                <a:latin typeface="Times New Roman MT Bold"/>
                <a:ea typeface="Times New Roman MT Bold"/>
                <a:cs typeface="Times New Roman MT Bold"/>
                <a:sym typeface="Times New Roman MT Bold"/>
              </a:rPr>
              <a:t>Gestures</a:t>
            </a:r>
            <a:r>
              <a:rPr lang="en-US" sz="2618">
                <a:solidFill>
                  <a:srgbClr val="000000"/>
                </a:solidFill>
                <a:latin typeface="Times New Roman MT"/>
                <a:ea typeface="Times New Roman MT"/>
                <a:cs typeface="Times New Roman MT"/>
                <a:sym typeface="Times New Roman MT"/>
              </a:rPr>
              <a:t>:</a:t>
            </a:r>
          </a:p>
          <a:p>
            <a:pPr algn="just" marL="565423" indent="-282711" lvl="1">
              <a:lnSpc>
                <a:spcPts val="3666"/>
              </a:lnSpc>
              <a:buFont typeface="Arial"/>
              <a:buChar char="•"/>
            </a:pPr>
            <a:r>
              <a:rPr lang="en-US" sz="2618">
                <a:solidFill>
                  <a:srgbClr val="000000"/>
                </a:solidFill>
                <a:latin typeface="Times New Roman MT"/>
                <a:ea typeface="Times New Roman MT"/>
                <a:cs typeface="Times New Roman MT"/>
                <a:sym typeface="Times New Roman MT"/>
              </a:rPr>
              <a:t>Tap: Warna menjadi hijau.</a:t>
            </a:r>
          </a:p>
          <a:p>
            <a:pPr algn="just" marL="565423" indent="-282711" lvl="1">
              <a:lnSpc>
                <a:spcPts val="3666"/>
              </a:lnSpc>
              <a:buFont typeface="Arial"/>
              <a:buChar char="•"/>
            </a:pPr>
            <a:r>
              <a:rPr lang="en-US" sz="2618">
                <a:solidFill>
                  <a:srgbClr val="000000"/>
                </a:solidFill>
                <a:latin typeface="Times New Roman MT"/>
                <a:ea typeface="Times New Roman MT"/>
                <a:cs typeface="Times New Roman MT"/>
                <a:sym typeface="Times New Roman MT"/>
              </a:rPr>
              <a:t>D</a:t>
            </a:r>
            <a:r>
              <a:rPr lang="en-US" sz="2618">
                <a:solidFill>
                  <a:srgbClr val="000000"/>
                </a:solidFill>
                <a:latin typeface="Times New Roman MT"/>
                <a:ea typeface="Times New Roman MT"/>
                <a:cs typeface="Times New Roman MT"/>
                <a:sym typeface="Times New Roman MT"/>
              </a:rPr>
              <a:t>ouble Tap: Warna menjadi merah.</a:t>
            </a:r>
          </a:p>
          <a:p>
            <a:pPr algn="just" marL="565423" indent="-282711" lvl="1">
              <a:lnSpc>
                <a:spcPts val="3666"/>
              </a:lnSpc>
              <a:buFont typeface="Arial"/>
              <a:buChar char="•"/>
            </a:pPr>
            <a:r>
              <a:rPr lang="en-US" sz="2618">
                <a:solidFill>
                  <a:srgbClr val="000000"/>
                </a:solidFill>
                <a:latin typeface="Times New Roman MT"/>
                <a:ea typeface="Times New Roman MT"/>
                <a:cs typeface="Times New Roman MT"/>
                <a:sym typeface="Times New Roman MT"/>
              </a:rPr>
              <a:t>Lon</a:t>
            </a:r>
            <a:r>
              <a:rPr lang="en-US" sz="2618">
                <a:solidFill>
                  <a:srgbClr val="000000"/>
                </a:solidFill>
                <a:latin typeface="Times New Roman MT"/>
                <a:ea typeface="Times New Roman MT"/>
                <a:cs typeface="Times New Roman MT"/>
                <a:sym typeface="Times New Roman MT"/>
              </a:rPr>
              <a:t>g Press: Skala menjadi 2.0x.</a:t>
            </a:r>
          </a:p>
          <a:p>
            <a:pPr algn="just" marL="565423" indent="-282711" lvl="1">
              <a:lnSpc>
                <a:spcPts val="3666"/>
              </a:lnSpc>
              <a:buFont typeface="Arial"/>
              <a:buChar char="•"/>
            </a:pPr>
            <a:r>
              <a:rPr lang="en-US" sz="2618">
                <a:solidFill>
                  <a:srgbClr val="000000"/>
                </a:solidFill>
                <a:latin typeface="Times New Roman MT"/>
                <a:ea typeface="Times New Roman MT"/>
                <a:cs typeface="Times New Roman MT"/>
                <a:sym typeface="Times New Roman MT"/>
              </a:rPr>
              <a:t>Pinch Zoom: Skala 0.5x - 3.0x.</a:t>
            </a:r>
          </a:p>
          <a:p>
            <a:pPr algn="just" marL="565423" indent="-282711" lvl="1">
              <a:lnSpc>
                <a:spcPts val="3666"/>
              </a:lnSpc>
              <a:buFont typeface="Arial"/>
              <a:buChar char="•"/>
            </a:pPr>
            <a:r>
              <a:rPr lang="en-US" sz="2618">
                <a:solidFill>
                  <a:srgbClr val="000000"/>
                </a:solidFill>
                <a:latin typeface="Times New Roman MT"/>
                <a:ea typeface="Times New Roman MT"/>
                <a:cs typeface="Times New Roman MT"/>
                <a:sym typeface="Times New Roman MT"/>
              </a:rPr>
              <a:t>Drag: Menggeser posisi kotak.</a:t>
            </a:r>
          </a:p>
          <a:p>
            <a:pPr algn="just">
              <a:lnSpc>
                <a:spcPts val="3666"/>
              </a:lnSpc>
            </a:pPr>
            <a:r>
              <a:rPr lang="en-US" sz="2618" b="true">
                <a:solidFill>
                  <a:srgbClr val="000000"/>
                </a:solidFill>
                <a:latin typeface="Times New Roman MT Bold"/>
                <a:ea typeface="Times New Roman MT Bold"/>
                <a:cs typeface="Times New Roman MT Bold"/>
                <a:sym typeface="Times New Roman MT Bold"/>
              </a:rPr>
              <a:t>Animasi</a:t>
            </a:r>
            <a:r>
              <a:rPr lang="en-US" sz="2618">
                <a:solidFill>
                  <a:srgbClr val="000000"/>
                </a:solidFill>
                <a:latin typeface="Times New Roman MT"/>
                <a:ea typeface="Times New Roman MT"/>
                <a:cs typeface="Times New Roman MT"/>
                <a:sym typeface="Times New Roman MT"/>
              </a:rPr>
              <a:t>: Durasi 200ms untuk transisi halus.</a:t>
            </a:r>
          </a:p>
          <a:p>
            <a:pPr algn="just">
              <a:lnSpc>
                <a:spcPts val="3666"/>
              </a:lnSpc>
            </a:pPr>
            <a:r>
              <a:rPr lang="en-US" sz="2618" b="true">
                <a:solidFill>
                  <a:srgbClr val="000000"/>
                </a:solidFill>
                <a:latin typeface="Times New Roman MT Bold"/>
                <a:ea typeface="Times New Roman MT Bold"/>
                <a:cs typeface="Times New Roman MT Bold"/>
                <a:sym typeface="Times New Roman MT Bold"/>
              </a:rPr>
              <a:t>Visual</a:t>
            </a:r>
            <a:r>
              <a:rPr lang="en-US" sz="2618">
                <a:solidFill>
                  <a:srgbClr val="000000"/>
                </a:solidFill>
                <a:latin typeface="Times New Roman MT"/>
                <a:ea typeface="Times New Roman MT"/>
                <a:cs typeface="Times New Roman MT"/>
                <a:sym typeface="Times New Roman MT"/>
              </a:rPr>
              <a:t>: Kotak 120x120 piksel, sudut melengkung, dan bayangan.</a:t>
            </a:r>
          </a:p>
          <a:p>
            <a:pPr algn="just">
              <a:lnSpc>
                <a:spcPts val="3666"/>
              </a:lnSpc>
            </a:pPr>
            <a:r>
              <a:rPr lang="en-US" sz="2618" b="true">
                <a:solidFill>
                  <a:srgbClr val="000000"/>
                </a:solidFill>
                <a:latin typeface="Times New Roman MT Bold"/>
                <a:ea typeface="Times New Roman MT Bold"/>
                <a:cs typeface="Times New Roman MT Bold"/>
                <a:sym typeface="Times New Roman MT Bold"/>
              </a:rPr>
              <a:t>Tujuan</a:t>
            </a:r>
            <a:r>
              <a:rPr lang="en-US" sz="2618">
                <a:solidFill>
                  <a:srgbClr val="000000"/>
                </a:solidFill>
                <a:latin typeface="Times New Roman MT"/>
                <a:ea typeface="Times New Roman MT"/>
                <a:cs typeface="Times New Roman MT"/>
                <a:sym typeface="Times New Roman MT"/>
              </a:rPr>
              <a:t>: Demonstrasi multiple gesture dalam satu widget menggunakan GestureDetector.</a:t>
            </a:r>
          </a:p>
          <a:p>
            <a:pPr algn="just">
              <a:lnSpc>
                <a:spcPts val="3946"/>
              </a:lnSpc>
            </a:pPr>
          </a:p>
        </p:txBody>
      </p:sp>
      <p:sp>
        <p:nvSpPr>
          <p:cNvPr name="TextBox 12" id="12"/>
          <p:cNvSpPr txBox="true"/>
          <p:nvPr/>
        </p:nvSpPr>
        <p:spPr>
          <a:xfrm rot="0">
            <a:off x="1028700" y="1233519"/>
            <a:ext cx="9425266" cy="816008"/>
          </a:xfrm>
          <a:prstGeom prst="rect">
            <a:avLst/>
          </a:prstGeom>
        </p:spPr>
        <p:txBody>
          <a:bodyPr anchor="t" rtlCol="false" tIns="0" lIns="0" bIns="0" rIns="0">
            <a:spAutoFit/>
          </a:bodyPr>
          <a:lstStyle/>
          <a:p>
            <a:pPr algn="l">
              <a:lnSpc>
                <a:spcPts val="5500"/>
              </a:lnSpc>
            </a:pPr>
            <a:r>
              <a:rPr lang="en-US" sz="5000" b="true">
                <a:solidFill>
                  <a:srgbClr val="0B2957"/>
                </a:solidFill>
                <a:latin typeface="Times New Roman MT Bold"/>
                <a:ea typeface="Times New Roman MT Bold"/>
                <a:cs typeface="Times New Roman MT Bold"/>
                <a:sym typeface="Times New Roman MT Bold"/>
              </a:rPr>
              <a:t>Program Implementasi Playground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041774" y="7910210"/>
            <a:ext cx="5748880" cy="574888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4F4F4"/>
            </a:solidFill>
          </p:spPr>
        </p:sp>
        <p:sp>
          <p:nvSpPr>
            <p:cNvPr name="TextBox 4" id="4"/>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4788546" y="5718455"/>
            <a:ext cx="12280300" cy="4154911"/>
          </a:xfrm>
          <a:prstGeom prst="rect">
            <a:avLst/>
          </a:prstGeom>
        </p:spPr>
        <p:txBody>
          <a:bodyPr anchor="t" rtlCol="false" tIns="0" lIns="0" bIns="0" rIns="0">
            <a:spAutoFit/>
          </a:bodyPr>
          <a:lstStyle/>
          <a:p>
            <a:pPr algn="just">
              <a:lnSpc>
                <a:spcPts val="4060"/>
              </a:lnSpc>
            </a:pPr>
            <a:r>
              <a:rPr lang="en-US" sz="2900">
                <a:solidFill>
                  <a:srgbClr val="000000"/>
                </a:solidFill>
                <a:latin typeface="Times New Roman MT"/>
                <a:ea typeface="Times New Roman MT"/>
                <a:cs typeface="Times New Roman MT"/>
                <a:sym typeface="Times New Roman MT"/>
              </a:rPr>
              <a:t>Gambar menampilkan tampilan sebelum dan setelah berbagai gesture pada halaman Gesture Playground. Pada kondisi awal, kotak berwarna biru dengan skala 1.0x dan posisi di (100,100). Saat pengguna melakukan tap, warna kotak berubah menjadi hijau. Double tap mengubah warna menjadi merah. Long press memperbesar skala menjadi 2.0x. Pinch zoom memungkinkan skala berubah antara 0.5x hingga 3.0x, sedangkan drag dapat menggeser posisi kotak ke mana saja. Semua perubahan terjadi dengan animasi halus selama 200 milidetik.</a:t>
            </a:r>
          </a:p>
        </p:txBody>
      </p:sp>
      <p:grpSp>
        <p:nvGrpSpPr>
          <p:cNvPr name="Group 6" id="6"/>
          <p:cNvGrpSpPr/>
          <p:nvPr/>
        </p:nvGrpSpPr>
        <p:grpSpPr>
          <a:xfrm rot="0">
            <a:off x="6916214" y="-2058442"/>
            <a:ext cx="3087142" cy="308714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1C54A9"/>
            </a:solidFill>
          </p:spPr>
        </p:sp>
        <p:sp>
          <p:nvSpPr>
            <p:cNvPr name="TextBox 8" id="8"/>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593829" y="5719037"/>
            <a:ext cx="6586978" cy="5604920"/>
          </a:xfrm>
          <a:custGeom>
            <a:avLst/>
            <a:gdLst/>
            <a:ahLst/>
            <a:cxnLst/>
            <a:rect r="r" b="b" t="t" l="l"/>
            <a:pathLst>
              <a:path h="5604920" w="6586978">
                <a:moveTo>
                  <a:pt x="0" y="0"/>
                </a:moveTo>
                <a:lnTo>
                  <a:pt x="6586979" y="0"/>
                </a:lnTo>
                <a:lnTo>
                  <a:pt x="6586979" y="5604919"/>
                </a:lnTo>
                <a:lnTo>
                  <a:pt x="0" y="56049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626380" y="1961271"/>
            <a:ext cx="4516156" cy="2664826"/>
            <a:chOff x="0" y="0"/>
            <a:chExt cx="1377475" cy="812800"/>
          </a:xfrm>
        </p:grpSpPr>
        <p:sp>
          <p:nvSpPr>
            <p:cNvPr name="Freeform 11" id="11"/>
            <p:cNvSpPr/>
            <p:nvPr/>
          </p:nvSpPr>
          <p:spPr>
            <a:xfrm flipH="false" flipV="false" rot="0">
              <a:off x="0" y="0"/>
              <a:ext cx="1377475" cy="812800"/>
            </a:xfrm>
            <a:custGeom>
              <a:avLst/>
              <a:gdLst/>
              <a:ahLst/>
              <a:cxnLst/>
              <a:rect r="r" b="b" t="t" l="l"/>
              <a:pathLst>
                <a:path h="812800" w="1377475">
                  <a:moveTo>
                    <a:pt x="39428" y="0"/>
                  </a:moveTo>
                  <a:lnTo>
                    <a:pt x="1338047" y="0"/>
                  </a:lnTo>
                  <a:cubicBezTo>
                    <a:pt x="1348504" y="0"/>
                    <a:pt x="1358533" y="4154"/>
                    <a:pt x="1365927" y="11548"/>
                  </a:cubicBezTo>
                  <a:cubicBezTo>
                    <a:pt x="1373321" y="18943"/>
                    <a:pt x="1377475" y="28971"/>
                    <a:pt x="1377475" y="39428"/>
                  </a:cubicBezTo>
                  <a:lnTo>
                    <a:pt x="1377475" y="773372"/>
                  </a:lnTo>
                  <a:cubicBezTo>
                    <a:pt x="1377475" y="795147"/>
                    <a:pt x="1359823" y="812800"/>
                    <a:pt x="1338047" y="812800"/>
                  </a:cubicBezTo>
                  <a:lnTo>
                    <a:pt x="39428" y="812800"/>
                  </a:lnTo>
                  <a:cubicBezTo>
                    <a:pt x="17653" y="812800"/>
                    <a:pt x="0" y="795147"/>
                    <a:pt x="0" y="773372"/>
                  </a:cubicBezTo>
                  <a:lnTo>
                    <a:pt x="0" y="39428"/>
                  </a:lnTo>
                  <a:cubicBezTo>
                    <a:pt x="0" y="17653"/>
                    <a:pt x="17653" y="0"/>
                    <a:pt x="39428" y="0"/>
                  </a:cubicBezTo>
                  <a:close/>
                </a:path>
              </a:pathLst>
            </a:custGeom>
            <a:blipFill>
              <a:blip r:embed="rId4"/>
              <a:stretch>
                <a:fillRect l="0" t="-2960" r="0" b="-2960"/>
              </a:stretch>
            </a:blipFill>
          </p:spPr>
        </p:sp>
      </p:grpSp>
      <p:grpSp>
        <p:nvGrpSpPr>
          <p:cNvPr name="Group 12" id="12"/>
          <p:cNvGrpSpPr/>
          <p:nvPr/>
        </p:nvGrpSpPr>
        <p:grpSpPr>
          <a:xfrm rot="0">
            <a:off x="5508526" y="3184263"/>
            <a:ext cx="1210690" cy="349847"/>
            <a:chOff x="0" y="0"/>
            <a:chExt cx="2072333" cy="598831"/>
          </a:xfrm>
        </p:grpSpPr>
        <p:sp>
          <p:nvSpPr>
            <p:cNvPr name="Freeform 13" id="13"/>
            <p:cNvSpPr/>
            <p:nvPr/>
          </p:nvSpPr>
          <p:spPr>
            <a:xfrm flipH="false" flipV="false" rot="0">
              <a:off x="0" y="0"/>
              <a:ext cx="2072333" cy="598831"/>
            </a:xfrm>
            <a:custGeom>
              <a:avLst/>
              <a:gdLst/>
              <a:ahLst/>
              <a:cxnLst/>
              <a:rect r="r" b="b" t="t" l="l"/>
              <a:pathLst>
                <a:path h="598831" w="2072333">
                  <a:moveTo>
                    <a:pt x="2072333" y="299415"/>
                  </a:moveTo>
                  <a:lnTo>
                    <a:pt x="1665933" y="0"/>
                  </a:lnTo>
                  <a:lnTo>
                    <a:pt x="1665933" y="203200"/>
                  </a:lnTo>
                  <a:lnTo>
                    <a:pt x="0" y="203200"/>
                  </a:lnTo>
                  <a:lnTo>
                    <a:pt x="0" y="395631"/>
                  </a:lnTo>
                  <a:lnTo>
                    <a:pt x="1665933" y="395631"/>
                  </a:lnTo>
                  <a:lnTo>
                    <a:pt x="1665933" y="598831"/>
                  </a:lnTo>
                  <a:lnTo>
                    <a:pt x="2072333" y="299415"/>
                  </a:lnTo>
                  <a:close/>
                </a:path>
              </a:pathLst>
            </a:custGeom>
            <a:solidFill>
              <a:srgbClr val="1C54A9"/>
            </a:solidFill>
          </p:spPr>
        </p:sp>
        <p:sp>
          <p:nvSpPr>
            <p:cNvPr name="TextBox 14" id="14"/>
            <p:cNvSpPr txBox="true"/>
            <p:nvPr/>
          </p:nvSpPr>
          <p:spPr>
            <a:xfrm>
              <a:off x="0" y="146050"/>
              <a:ext cx="1970733" cy="249581"/>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6898530" y="1961271"/>
            <a:ext cx="4516156" cy="2664826"/>
            <a:chOff x="0" y="0"/>
            <a:chExt cx="1377475" cy="812800"/>
          </a:xfrm>
        </p:grpSpPr>
        <p:sp>
          <p:nvSpPr>
            <p:cNvPr name="Freeform 16" id="16"/>
            <p:cNvSpPr/>
            <p:nvPr/>
          </p:nvSpPr>
          <p:spPr>
            <a:xfrm flipH="false" flipV="false" rot="0">
              <a:off x="0" y="0"/>
              <a:ext cx="1377475" cy="812800"/>
            </a:xfrm>
            <a:custGeom>
              <a:avLst/>
              <a:gdLst/>
              <a:ahLst/>
              <a:cxnLst/>
              <a:rect r="r" b="b" t="t" l="l"/>
              <a:pathLst>
                <a:path h="812800" w="1377475">
                  <a:moveTo>
                    <a:pt x="39428" y="0"/>
                  </a:moveTo>
                  <a:lnTo>
                    <a:pt x="1338047" y="0"/>
                  </a:lnTo>
                  <a:cubicBezTo>
                    <a:pt x="1348504" y="0"/>
                    <a:pt x="1358533" y="4154"/>
                    <a:pt x="1365927" y="11548"/>
                  </a:cubicBezTo>
                  <a:cubicBezTo>
                    <a:pt x="1373321" y="18943"/>
                    <a:pt x="1377475" y="28971"/>
                    <a:pt x="1377475" y="39428"/>
                  </a:cubicBezTo>
                  <a:lnTo>
                    <a:pt x="1377475" y="773372"/>
                  </a:lnTo>
                  <a:cubicBezTo>
                    <a:pt x="1377475" y="795147"/>
                    <a:pt x="1359823" y="812800"/>
                    <a:pt x="1338047" y="812800"/>
                  </a:cubicBezTo>
                  <a:lnTo>
                    <a:pt x="39428" y="812800"/>
                  </a:lnTo>
                  <a:cubicBezTo>
                    <a:pt x="17653" y="812800"/>
                    <a:pt x="0" y="795147"/>
                    <a:pt x="0" y="773372"/>
                  </a:cubicBezTo>
                  <a:lnTo>
                    <a:pt x="0" y="39428"/>
                  </a:lnTo>
                  <a:cubicBezTo>
                    <a:pt x="0" y="17653"/>
                    <a:pt x="17653" y="0"/>
                    <a:pt x="39428" y="0"/>
                  </a:cubicBezTo>
                  <a:close/>
                </a:path>
              </a:pathLst>
            </a:custGeom>
            <a:blipFill>
              <a:blip r:embed="rId5"/>
              <a:stretch>
                <a:fillRect l="0" t="-2960" r="0" b="-2960"/>
              </a:stretch>
            </a:blipFill>
          </p:spPr>
        </p:sp>
      </p:grpSp>
      <p:grpSp>
        <p:nvGrpSpPr>
          <p:cNvPr name="Group 17" id="17"/>
          <p:cNvGrpSpPr/>
          <p:nvPr/>
        </p:nvGrpSpPr>
        <p:grpSpPr>
          <a:xfrm rot="0">
            <a:off x="11778611" y="3249765"/>
            <a:ext cx="1210690" cy="349847"/>
            <a:chOff x="0" y="0"/>
            <a:chExt cx="2072333" cy="598831"/>
          </a:xfrm>
        </p:grpSpPr>
        <p:sp>
          <p:nvSpPr>
            <p:cNvPr name="Freeform 18" id="18"/>
            <p:cNvSpPr/>
            <p:nvPr/>
          </p:nvSpPr>
          <p:spPr>
            <a:xfrm flipH="false" flipV="false" rot="0">
              <a:off x="0" y="0"/>
              <a:ext cx="2072333" cy="598831"/>
            </a:xfrm>
            <a:custGeom>
              <a:avLst/>
              <a:gdLst/>
              <a:ahLst/>
              <a:cxnLst/>
              <a:rect r="r" b="b" t="t" l="l"/>
              <a:pathLst>
                <a:path h="598831" w="2072333">
                  <a:moveTo>
                    <a:pt x="2072333" y="299415"/>
                  </a:moveTo>
                  <a:lnTo>
                    <a:pt x="1665933" y="0"/>
                  </a:lnTo>
                  <a:lnTo>
                    <a:pt x="1665933" y="203200"/>
                  </a:lnTo>
                  <a:lnTo>
                    <a:pt x="0" y="203200"/>
                  </a:lnTo>
                  <a:lnTo>
                    <a:pt x="0" y="395631"/>
                  </a:lnTo>
                  <a:lnTo>
                    <a:pt x="1665933" y="395631"/>
                  </a:lnTo>
                  <a:lnTo>
                    <a:pt x="1665933" y="598831"/>
                  </a:lnTo>
                  <a:lnTo>
                    <a:pt x="2072333" y="299415"/>
                  </a:lnTo>
                  <a:close/>
                </a:path>
              </a:pathLst>
            </a:custGeom>
            <a:solidFill>
              <a:srgbClr val="1C54A9"/>
            </a:solidFill>
          </p:spPr>
        </p:sp>
        <p:sp>
          <p:nvSpPr>
            <p:cNvPr name="TextBox 19" id="19"/>
            <p:cNvSpPr txBox="true"/>
            <p:nvPr/>
          </p:nvSpPr>
          <p:spPr>
            <a:xfrm>
              <a:off x="0" y="146050"/>
              <a:ext cx="1970733" cy="249581"/>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3168614" y="2026773"/>
            <a:ext cx="4516156" cy="2664826"/>
            <a:chOff x="0" y="0"/>
            <a:chExt cx="1377475" cy="812800"/>
          </a:xfrm>
        </p:grpSpPr>
        <p:sp>
          <p:nvSpPr>
            <p:cNvPr name="Freeform 21" id="21"/>
            <p:cNvSpPr/>
            <p:nvPr/>
          </p:nvSpPr>
          <p:spPr>
            <a:xfrm flipH="false" flipV="false" rot="0">
              <a:off x="0" y="0"/>
              <a:ext cx="1377475" cy="812800"/>
            </a:xfrm>
            <a:custGeom>
              <a:avLst/>
              <a:gdLst/>
              <a:ahLst/>
              <a:cxnLst/>
              <a:rect r="r" b="b" t="t" l="l"/>
              <a:pathLst>
                <a:path h="812800" w="1377475">
                  <a:moveTo>
                    <a:pt x="39428" y="0"/>
                  </a:moveTo>
                  <a:lnTo>
                    <a:pt x="1338047" y="0"/>
                  </a:lnTo>
                  <a:cubicBezTo>
                    <a:pt x="1348504" y="0"/>
                    <a:pt x="1358533" y="4154"/>
                    <a:pt x="1365927" y="11548"/>
                  </a:cubicBezTo>
                  <a:cubicBezTo>
                    <a:pt x="1373321" y="18943"/>
                    <a:pt x="1377475" y="28971"/>
                    <a:pt x="1377475" y="39428"/>
                  </a:cubicBezTo>
                  <a:lnTo>
                    <a:pt x="1377475" y="773372"/>
                  </a:lnTo>
                  <a:cubicBezTo>
                    <a:pt x="1377475" y="795147"/>
                    <a:pt x="1359823" y="812800"/>
                    <a:pt x="1338047" y="812800"/>
                  </a:cubicBezTo>
                  <a:lnTo>
                    <a:pt x="39428" y="812800"/>
                  </a:lnTo>
                  <a:cubicBezTo>
                    <a:pt x="17653" y="812800"/>
                    <a:pt x="0" y="795147"/>
                    <a:pt x="0" y="773372"/>
                  </a:cubicBezTo>
                  <a:lnTo>
                    <a:pt x="0" y="39428"/>
                  </a:lnTo>
                  <a:cubicBezTo>
                    <a:pt x="0" y="17653"/>
                    <a:pt x="17653" y="0"/>
                    <a:pt x="39428" y="0"/>
                  </a:cubicBezTo>
                  <a:close/>
                </a:path>
              </a:pathLst>
            </a:custGeom>
            <a:blipFill>
              <a:blip r:embed="rId6"/>
              <a:stretch>
                <a:fillRect l="0" t="-2854" r="0" b="-2854"/>
              </a:stretch>
            </a:blipFill>
          </p:spPr>
        </p:sp>
      </p:grpSp>
      <p:sp>
        <p:nvSpPr>
          <p:cNvPr name="TextBox 22" id="22"/>
          <p:cNvSpPr txBox="true"/>
          <p:nvPr/>
        </p:nvSpPr>
        <p:spPr>
          <a:xfrm rot="0">
            <a:off x="2331637" y="4741842"/>
            <a:ext cx="1105642" cy="530275"/>
          </a:xfrm>
          <a:prstGeom prst="rect">
            <a:avLst/>
          </a:prstGeom>
        </p:spPr>
        <p:txBody>
          <a:bodyPr anchor="t" rtlCol="false" tIns="0" lIns="0" bIns="0" rIns="0">
            <a:spAutoFit/>
          </a:bodyPr>
          <a:lstStyle/>
          <a:p>
            <a:pPr algn="ctr">
              <a:lnSpc>
                <a:spcPts val="3820"/>
              </a:lnSpc>
            </a:pPr>
            <a:r>
              <a:rPr lang="en-US" sz="2729">
                <a:solidFill>
                  <a:srgbClr val="000000"/>
                </a:solidFill>
                <a:latin typeface="Times New Roman MT"/>
                <a:ea typeface="Times New Roman MT"/>
                <a:cs typeface="Times New Roman MT"/>
                <a:sym typeface="Times New Roman MT"/>
              </a:rPr>
              <a:t>Before</a:t>
            </a:r>
          </a:p>
        </p:txBody>
      </p:sp>
      <p:sp>
        <p:nvSpPr>
          <p:cNvPr name="TextBox 23" id="23"/>
          <p:cNvSpPr txBox="true"/>
          <p:nvPr/>
        </p:nvSpPr>
        <p:spPr>
          <a:xfrm rot="0">
            <a:off x="8284927" y="4741842"/>
            <a:ext cx="1743361" cy="530275"/>
          </a:xfrm>
          <a:prstGeom prst="rect">
            <a:avLst/>
          </a:prstGeom>
        </p:spPr>
        <p:txBody>
          <a:bodyPr anchor="t" rtlCol="false" tIns="0" lIns="0" bIns="0" rIns="0">
            <a:spAutoFit/>
          </a:bodyPr>
          <a:lstStyle/>
          <a:p>
            <a:pPr algn="ctr">
              <a:lnSpc>
                <a:spcPts val="3820"/>
              </a:lnSpc>
            </a:pPr>
            <a:r>
              <a:rPr lang="en-US" sz="2729">
                <a:solidFill>
                  <a:srgbClr val="000000"/>
                </a:solidFill>
                <a:latin typeface="Times New Roman MT"/>
                <a:ea typeface="Times New Roman MT"/>
                <a:cs typeface="Times New Roman MT"/>
                <a:sym typeface="Times New Roman MT"/>
              </a:rPr>
              <a:t>After Drag</a:t>
            </a:r>
          </a:p>
        </p:txBody>
      </p:sp>
      <p:sp>
        <p:nvSpPr>
          <p:cNvPr name="TextBox 24" id="24"/>
          <p:cNvSpPr txBox="true"/>
          <p:nvPr/>
        </p:nvSpPr>
        <p:spPr>
          <a:xfrm rot="0">
            <a:off x="626380" y="460854"/>
            <a:ext cx="6289833" cy="816008"/>
          </a:xfrm>
          <a:prstGeom prst="rect">
            <a:avLst/>
          </a:prstGeom>
        </p:spPr>
        <p:txBody>
          <a:bodyPr anchor="t" rtlCol="false" tIns="0" lIns="0" bIns="0" rIns="0">
            <a:spAutoFit/>
          </a:bodyPr>
          <a:lstStyle/>
          <a:p>
            <a:pPr algn="l">
              <a:lnSpc>
                <a:spcPts val="5500"/>
              </a:lnSpc>
            </a:pPr>
            <a:r>
              <a:rPr lang="en-US" sz="5000" b="true">
                <a:solidFill>
                  <a:srgbClr val="0B2957"/>
                </a:solidFill>
                <a:latin typeface="Times New Roman MT Bold"/>
                <a:ea typeface="Times New Roman MT Bold"/>
                <a:cs typeface="Times New Roman MT Bold"/>
                <a:sym typeface="Times New Roman MT Bold"/>
              </a:rPr>
              <a:t>Gestur Playground</a:t>
            </a:r>
          </a:p>
        </p:txBody>
      </p:sp>
      <p:sp>
        <p:nvSpPr>
          <p:cNvPr name="TextBox 25" id="25"/>
          <p:cNvSpPr txBox="true"/>
          <p:nvPr/>
        </p:nvSpPr>
        <p:spPr>
          <a:xfrm rot="0">
            <a:off x="14628595" y="4741842"/>
            <a:ext cx="1596195" cy="530275"/>
          </a:xfrm>
          <a:prstGeom prst="rect">
            <a:avLst/>
          </a:prstGeom>
        </p:spPr>
        <p:txBody>
          <a:bodyPr anchor="t" rtlCol="false" tIns="0" lIns="0" bIns="0" rIns="0">
            <a:spAutoFit/>
          </a:bodyPr>
          <a:lstStyle/>
          <a:p>
            <a:pPr algn="ctr">
              <a:lnSpc>
                <a:spcPts val="3820"/>
              </a:lnSpc>
            </a:pPr>
            <a:r>
              <a:rPr lang="en-US" sz="2729">
                <a:solidFill>
                  <a:srgbClr val="000000"/>
                </a:solidFill>
                <a:latin typeface="Times New Roman MT"/>
                <a:ea typeface="Times New Roman MT"/>
                <a:cs typeface="Times New Roman MT"/>
                <a:sym typeface="Times New Roman MT"/>
              </a:rPr>
              <a:t>After Tap</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3039189"/>
            <a:ext cx="9791723" cy="2104311"/>
          </a:xfrm>
          <a:prstGeom prst="rect">
            <a:avLst/>
          </a:prstGeom>
        </p:spPr>
        <p:txBody>
          <a:bodyPr anchor="t" rtlCol="false" tIns="0" lIns="0" bIns="0" rIns="0">
            <a:spAutoFit/>
          </a:bodyPr>
          <a:lstStyle/>
          <a:p>
            <a:pPr algn="l">
              <a:lnSpc>
                <a:spcPts val="14233"/>
              </a:lnSpc>
            </a:pPr>
            <a:r>
              <a:rPr lang="en-US" sz="12939" b="true">
                <a:solidFill>
                  <a:srgbClr val="0B2957"/>
                </a:solidFill>
                <a:latin typeface="Times New Roman MT Bold"/>
                <a:ea typeface="Times New Roman MT Bold"/>
                <a:cs typeface="Times New Roman MT Bold"/>
                <a:sym typeface="Times New Roman MT Bold"/>
              </a:rPr>
              <a:t>Terimakasih</a:t>
            </a:r>
          </a:p>
        </p:txBody>
      </p:sp>
      <p:grpSp>
        <p:nvGrpSpPr>
          <p:cNvPr name="Group 3" id="3"/>
          <p:cNvGrpSpPr/>
          <p:nvPr/>
        </p:nvGrpSpPr>
        <p:grpSpPr>
          <a:xfrm rot="0">
            <a:off x="13609448" y="-2208299"/>
            <a:ext cx="10361633" cy="1036163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4F4F4"/>
            </a:solidFill>
          </p:spPr>
        </p:sp>
        <p:sp>
          <p:nvSpPr>
            <p:cNvPr name="TextBox 5" id="5"/>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651511" y="1014580"/>
            <a:ext cx="3915874" cy="391587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0C3470"/>
            </a:solidFill>
          </p:spPr>
        </p:sp>
        <p:sp>
          <p:nvSpPr>
            <p:cNvPr name="TextBox 8" id="8"/>
            <p:cNvSpPr txBox="true"/>
            <p:nvPr/>
          </p:nvSpPr>
          <p:spPr>
            <a:xfrm>
              <a:off x="139700" y="82550"/>
              <a:ext cx="533400" cy="59055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2650966" y="3477356"/>
            <a:ext cx="1916964" cy="2857264"/>
          </a:xfrm>
          <a:custGeom>
            <a:avLst/>
            <a:gdLst/>
            <a:ahLst/>
            <a:cxnLst/>
            <a:rect r="r" b="b" t="t" l="l"/>
            <a:pathLst>
              <a:path h="2857264" w="1916964">
                <a:moveTo>
                  <a:pt x="0" y="0"/>
                </a:moveTo>
                <a:lnTo>
                  <a:pt x="1916964" y="0"/>
                </a:lnTo>
                <a:lnTo>
                  <a:pt x="1916964" y="2857263"/>
                </a:lnTo>
                <a:lnTo>
                  <a:pt x="0" y="28572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641955" y="7509896"/>
            <a:ext cx="16947729" cy="3254341"/>
            <a:chOff x="0" y="0"/>
            <a:chExt cx="4463600" cy="857110"/>
          </a:xfrm>
        </p:grpSpPr>
        <p:sp>
          <p:nvSpPr>
            <p:cNvPr name="Freeform 11" id="11"/>
            <p:cNvSpPr/>
            <p:nvPr/>
          </p:nvSpPr>
          <p:spPr>
            <a:xfrm flipH="false" flipV="false" rot="0">
              <a:off x="0" y="0"/>
              <a:ext cx="4463600" cy="857110"/>
            </a:xfrm>
            <a:custGeom>
              <a:avLst/>
              <a:gdLst/>
              <a:ahLst/>
              <a:cxnLst/>
              <a:rect r="r" b="b" t="t" l="l"/>
              <a:pathLst>
                <a:path h="857110" w="4463600">
                  <a:moveTo>
                    <a:pt x="0" y="0"/>
                  </a:moveTo>
                  <a:lnTo>
                    <a:pt x="4463600" y="0"/>
                  </a:lnTo>
                  <a:lnTo>
                    <a:pt x="4463600" y="857110"/>
                  </a:lnTo>
                  <a:lnTo>
                    <a:pt x="0" y="857110"/>
                  </a:lnTo>
                  <a:close/>
                </a:path>
              </a:pathLst>
            </a:custGeom>
            <a:solidFill>
              <a:srgbClr val="0B2957"/>
            </a:solidFill>
          </p:spPr>
        </p:sp>
        <p:sp>
          <p:nvSpPr>
            <p:cNvPr name="TextBox 12" id="12"/>
            <p:cNvSpPr txBox="true"/>
            <p:nvPr/>
          </p:nvSpPr>
          <p:spPr>
            <a:xfrm>
              <a:off x="0" y="-57150"/>
              <a:ext cx="4463600" cy="914260"/>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true" flipV="false" rot="0">
            <a:off x="10115444" y="3988308"/>
            <a:ext cx="8904973" cy="7577323"/>
          </a:xfrm>
          <a:custGeom>
            <a:avLst/>
            <a:gdLst/>
            <a:ahLst/>
            <a:cxnLst/>
            <a:rect r="r" b="b" t="t" l="l"/>
            <a:pathLst>
              <a:path h="7577323" w="8904973">
                <a:moveTo>
                  <a:pt x="8904973" y="0"/>
                </a:moveTo>
                <a:lnTo>
                  <a:pt x="0" y="0"/>
                </a:lnTo>
                <a:lnTo>
                  <a:pt x="0" y="7577322"/>
                </a:lnTo>
                <a:lnTo>
                  <a:pt x="8904973" y="7577322"/>
                </a:lnTo>
                <a:lnTo>
                  <a:pt x="890497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DAHFhWIJumY</dc:identifier>
  <dcterms:modified xsi:type="dcterms:W3CDTF">2011-08-01T06:04:30Z</dcterms:modified>
  <cp:revision>1</cp:revision>
  <dc:title>Biru Profesional Presentasi Pengenalan UMKM</dc:title>
</cp:coreProperties>
</file>